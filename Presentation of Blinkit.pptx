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73" r:id="rId3"/>
    <p:sldId id="300" r:id="rId4"/>
    <p:sldId id="301" r:id="rId5"/>
    <p:sldId id="302" r:id="rId6"/>
    <p:sldId id="303" r:id="rId7"/>
    <p:sldId id="304" r:id="rId8"/>
    <p:sldId id="305" r:id="rId9"/>
    <p:sldId id="306" r:id="rId10"/>
    <p:sldId id="307" r:id="rId11"/>
    <p:sldId id="312" r:id="rId12"/>
    <p:sldId id="309" r:id="rId13"/>
    <p:sldId id="314" r:id="rId14"/>
    <p:sldId id="316" r:id="rId15"/>
    <p:sldId id="310" r:id="rId16"/>
    <p:sldId id="313" r:id="rId17"/>
    <p:sldId id="311" r:id="rId18"/>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83584" autoAdjust="0"/>
  </p:normalViewPr>
  <p:slideViewPr>
    <p:cSldViewPr>
      <p:cViewPr varScale="1">
        <p:scale>
          <a:sx n="44" d="100"/>
          <a:sy n="44" d="100"/>
        </p:scale>
        <p:origin x="676"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4EC688CC-F215-4F70-9DB2-97312CA0F430}" type="datetimeFigureOut">
              <a:rPr lang="en-IN" smtClean="0"/>
              <a:t>04-05-2026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18591700-D6EB-4289-9A74-46A9A3BBADEE}" type="slidenum">
              <a:rPr lang="en-IN" smtClean="0"/>
              <a:t>‹#›</a:t>
            </a:fld>
            <a:endParaRPr lang="en-IN"/>
          </a:p>
        </p:txBody>
      </p:sp>
    </p:spTree>
    <p:extLst>
      <p:ext uri="{BB962C8B-B14F-4D97-AF65-F5344CB8AC3E}">
        <p14:creationId xmlns:p14="http://schemas.microsoft.com/office/powerpoint/2010/main" val="82127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8591700-D6EB-4289-9A74-46A9A3BBADEE}" type="slidenum">
              <a:rPr lang="en-IN" smtClean="0"/>
              <a:t>2</a:t>
            </a:fld>
            <a:endParaRPr lang="en-IN"/>
          </a:p>
        </p:txBody>
      </p:sp>
    </p:spTree>
    <p:extLst>
      <p:ext uri="{BB962C8B-B14F-4D97-AF65-F5344CB8AC3E}">
        <p14:creationId xmlns:p14="http://schemas.microsoft.com/office/powerpoint/2010/main" val="2215610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8591700-D6EB-4289-9A74-46A9A3BBADEE}" type="slidenum">
              <a:rPr lang="en-IN" smtClean="0"/>
              <a:t>8</a:t>
            </a:fld>
            <a:endParaRPr lang="en-IN"/>
          </a:p>
        </p:txBody>
      </p:sp>
    </p:spTree>
    <p:extLst>
      <p:ext uri="{BB962C8B-B14F-4D97-AF65-F5344CB8AC3E}">
        <p14:creationId xmlns:p14="http://schemas.microsoft.com/office/powerpoint/2010/main" val="1867568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4200" b="1" i="0" u="sng">
                <a:solidFill>
                  <a:srgbClr val="334E40"/>
                </a:solidFill>
                <a:latin typeface="Arial"/>
                <a:cs typeface="Arial"/>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6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1" i="0" u="sng">
                <a:solidFill>
                  <a:srgbClr val="334E4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6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1" i="0" u="sng">
                <a:solidFill>
                  <a:srgbClr val="334E40"/>
                </a:solidFill>
                <a:latin typeface="Arial"/>
                <a:cs typeface="Arial"/>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1" i="0" u="sng">
                <a:solidFill>
                  <a:srgbClr val="334E4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D9D6CC"/>
          </a:solidFill>
        </p:spPr>
        <p:txBody>
          <a:bodyPr wrap="square" lIns="0" tIns="0" rIns="0" bIns="0" rtlCol="0"/>
          <a:lstStyle/>
          <a:p>
            <a:endParaRPr/>
          </a:p>
        </p:txBody>
      </p:sp>
      <p:sp>
        <p:nvSpPr>
          <p:cNvPr id="2" name="Holder 2"/>
          <p:cNvSpPr>
            <a:spLocks noGrp="1"/>
          </p:cNvSpPr>
          <p:nvPr>
            <p:ph type="title"/>
          </p:nvPr>
        </p:nvSpPr>
        <p:spPr>
          <a:xfrm>
            <a:off x="535321" y="196837"/>
            <a:ext cx="15258499" cy="1711325"/>
          </a:xfrm>
          <a:prstGeom prst="rect">
            <a:avLst/>
          </a:prstGeom>
        </p:spPr>
        <p:txBody>
          <a:bodyPr wrap="square" lIns="0" tIns="0" rIns="0" bIns="0">
            <a:spAutoFit/>
          </a:bodyPr>
          <a:lstStyle>
            <a:lvl1pPr>
              <a:defRPr sz="4200" b="1" i="0" u="sng">
                <a:solidFill>
                  <a:srgbClr val="334E40"/>
                </a:solidFill>
                <a:latin typeface="Arial"/>
                <a:cs typeface="Arial"/>
              </a:defRPr>
            </a:lvl1pPr>
          </a:lstStyle>
          <a:p>
            <a:endParaRPr/>
          </a:p>
        </p:txBody>
      </p:sp>
      <p:sp>
        <p:nvSpPr>
          <p:cNvPr id="3" name="Holder 3"/>
          <p:cNvSpPr>
            <a:spLocks noGrp="1"/>
          </p:cNvSpPr>
          <p:nvPr>
            <p:ph type="body" idx="1"/>
          </p:nvPr>
        </p:nvSpPr>
        <p:spPr>
          <a:xfrm>
            <a:off x="1588577" y="1847216"/>
            <a:ext cx="15782290" cy="6883400"/>
          </a:xfrm>
          <a:prstGeom prst="rect">
            <a:avLst/>
          </a:prstGeom>
        </p:spPr>
        <p:txBody>
          <a:bodyPr wrap="square" lIns="0" tIns="0" rIns="0" bIns="0">
            <a:spAutoFit/>
          </a:bodyPr>
          <a:lstStyle>
            <a:lvl1pPr>
              <a:defRPr sz="3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5/4/2026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sp>
          <p:nvSpPr>
            <p:cNvPr id="3" name="object 3"/>
            <p:cNvSpPr/>
            <p:nvPr/>
          </p:nvSpPr>
          <p:spPr>
            <a:xfrm>
              <a:off x="0" y="0"/>
              <a:ext cx="18288000" cy="9258300"/>
            </a:xfrm>
            <a:custGeom>
              <a:avLst/>
              <a:gdLst/>
              <a:ahLst/>
              <a:cxnLst/>
              <a:rect l="l" t="t" r="r" b="b"/>
              <a:pathLst>
                <a:path w="18288000" h="9258300">
                  <a:moveTo>
                    <a:pt x="0" y="9258299"/>
                  </a:moveTo>
                  <a:lnTo>
                    <a:pt x="18287998" y="9258299"/>
                  </a:lnTo>
                  <a:lnTo>
                    <a:pt x="18287998" y="0"/>
                  </a:lnTo>
                  <a:lnTo>
                    <a:pt x="0" y="0"/>
                  </a:lnTo>
                  <a:lnTo>
                    <a:pt x="0" y="9258299"/>
                  </a:lnTo>
                  <a:close/>
                </a:path>
              </a:pathLst>
            </a:custGeom>
            <a:solidFill>
              <a:srgbClr val="D9D6CC"/>
            </a:solidFill>
          </p:spPr>
          <p:txBody>
            <a:bodyPr wrap="square" lIns="0" tIns="0" rIns="0" bIns="0" rtlCol="0"/>
            <a:lstStyle/>
            <a:p>
              <a:endParaRPr dirty="0"/>
            </a:p>
          </p:txBody>
        </p:sp>
        <p:sp>
          <p:nvSpPr>
            <p:cNvPr id="4" name="object 4"/>
            <p:cNvSpPr/>
            <p:nvPr/>
          </p:nvSpPr>
          <p:spPr>
            <a:xfrm>
              <a:off x="0" y="9258300"/>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grpSp>
      <p:sp>
        <p:nvSpPr>
          <p:cNvPr id="7" name="object 7"/>
          <p:cNvSpPr txBox="1"/>
          <p:nvPr/>
        </p:nvSpPr>
        <p:spPr>
          <a:xfrm>
            <a:off x="2209800" y="2933700"/>
            <a:ext cx="12573000" cy="787395"/>
          </a:xfrm>
          <a:prstGeom prst="rect">
            <a:avLst/>
          </a:prstGeom>
        </p:spPr>
        <p:txBody>
          <a:bodyPr vert="horz" wrap="square" lIns="0" tIns="144780" rIns="0" bIns="0" rtlCol="0">
            <a:spAutoFit/>
          </a:bodyPr>
          <a:lstStyle/>
          <a:p>
            <a:pPr marL="12700" marR="5080" algn="ctr">
              <a:lnSpc>
                <a:spcPts val="4950"/>
              </a:lnSpc>
              <a:spcBef>
                <a:spcPts val="1140"/>
              </a:spcBef>
            </a:pPr>
            <a:r>
              <a:rPr lang="en-IN" sz="3600" b="1" spc="-10" dirty="0">
                <a:solidFill>
                  <a:schemeClr val="tx1"/>
                </a:solidFill>
                <a:latin typeface="Times New Roman" pitchFamily="18" charset="0"/>
                <a:cs typeface="Times New Roman" pitchFamily="18" charset="0"/>
              </a:rPr>
              <a:t>  </a:t>
            </a:r>
            <a:r>
              <a:rPr lang="en-IN" sz="4800" b="1" spc="-10" dirty="0">
                <a:solidFill>
                  <a:schemeClr val="tx1"/>
                </a:solidFill>
                <a:latin typeface="Times New Roman" pitchFamily="18" charset="0"/>
                <a:cs typeface="Times New Roman" pitchFamily="18" charset="0"/>
              </a:rPr>
              <a:t>                                                                                                                 </a:t>
            </a:r>
            <a:endParaRPr lang="en-US" sz="4800" b="1" spc="-10" dirty="0">
              <a:solidFill>
                <a:schemeClr val="tx1"/>
              </a:solidFill>
              <a:latin typeface="Times New Roman" pitchFamily="18" charset="0"/>
              <a:cs typeface="Times New Roman" pitchFamily="18" charset="0"/>
            </a:endParaRPr>
          </a:p>
        </p:txBody>
      </p:sp>
      <p:sp>
        <p:nvSpPr>
          <p:cNvPr id="8" name="object 8"/>
          <p:cNvSpPr txBox="1">
            <a:spLocks noGrp="1"/>
          </p:cNvSpPr>
          <p:nvPr>
            <p:ph type="title"/>
          </p:nvPr>
        </p:nvSpPr>
        <p:spPr>
          <a:xfrm>
            <a:off x="847270" y="1192118"/>
            <a:ext cx="17830801" cy="2274982"/>
          </a:xfrm>
          <a:prstGeom prst="rect">
            <a:avLst/>
          </a:prstGeom>
        </p:spPr>
        <p:txBody>
          <a:bodyPr vert="horz" wrap="square" lIns="0" tIns="12700" rIns="0" bIns="0" rtlCol="0">
            <a:spAutoFit/>
          </a:bodyPr>
          <a:lstStyle/>
          <a:p>
            <a:pPr eaLnBrk="1" hangingPunct="1">
              <a:lnSpc>
                <a:spcPct val="150000"/>
              </a:lnSpc>
              <a:spcBef>
                <a:spcPct val="0"/>
              </a:spcBef>
            </a:pPr>
            <a:r>
              <a:rPr lang="en-US" altLang="en-US" sz="5400" u="none" dirty="0">
                <a:solidFill>
                  <a:schemeClr val="tx1"/>
                </a:solidFill>
                <a:latin typeface="+mj-lt"/>
                <a:cs typeface="Times New Roman" pitchFamily="18" charset="0"/>
                <a:sym typeface="+mn-ea"/>
              </a:rPr>
              <a:t>  </a:t>
            </a:r>
            <a:r>
              <a:rPr lang="en-US" altLang="en-US" sz="4400" u="none" dirty="0">
                <a:solidFill>
                  <a:schemeClr val="tx1"/>
                </a:solidFill>
                <a:latin typeface="Times New Roman" pitchFamily="18" charset="0"/>
                <a:cs typeface="Times New Roman" pitchFamily="18" charset="0"/>
                <a:sym typeface="+mn-ea"/>
              </a:rPr>
              <a:t>PROJECT TITLE </a:t>
            </a:r>
            <a:r>
              <a:rPr lang="en-US" sz="5400" u="none" dirty="0">
                <a:solidFill>
                  <a:schemeClr val="tx1"/>
                </a:solidFill>
                <a:latin typeface="+mj-lt"/>
                <a:cs typeface="Times New Roman" pitchFamily="18" charset="0"/>
              </a:rPr>
              <a:t>:</a:t>
            </a:r>
            <a:r>
              <a:rPr lang="en-US" altLang="en-US" sz="5400" u="none" dirty="0">
                <a:solidFill>
                  <a:srgbClr val="000000"/>
                </a:solidFill>
                <a:latin typeface="+mj-lt"/>
                <a:cs typeface="Times New Roman" panose="02020603050405020304" pitchFamily="18" charset="0"/>
                <a:sym typeface="+mn-ea"/>
              </a:rPr>
              <a:t> </a:t>
            </a:r>
            <a:r>
              <a:rPr lang="en-IN" sz="4400" u="none" dirty="0">
                <a:solidFill>
                  <a:schemeClr val="tx1"/>
                </a:solidFill>
                <a:latin typeface="Times New Roman" pitchFamily="18" charset="0"/>
                <a:cs typeface="Times New Roman" pitchFamily="18" charset="0"/>
              </a:rPr>
              <a:t>BLINKIT SALES ANALYTICS DASHBOARD</a:t>
            </a:r>
            <a:br>
              <a:rPr lang="en-IN" altLang="en-US" sz="4400" u="none" dirty="0">
                <a:solidFill>
                  <a:schemeClr val="tx1"/>
                </a:solidFill>
                <a:latin typeface="Times New Roman" panose="02020603050405020304" pitchFamily="18" charset="0"/>
                <a:cs typeface="Times New Roman" panose="02020603050405020304" pitchFamily="18" charset="0"/>
                <a:sym typeface="+mn-ea"/>
              </a:rPr>
            </a:br>
            <a:endParaRPr lang="en-IN" sz="4400" u="none" dirty="0">
              <a:solidFill>
                <a:schemeClr val="tx1"/>
              </a:solidFill>
              <a:latin typeface="Times New Roman" pitchFamily="18" charset="0"/>
              <a:cs typeface="Times New Roman" pitchFamily="18" charset="0"/>
            </a:endParaRPr>
          </a:p>
        </p:txBody>
      </p:sp>
      <p:sp>
        <p:nvSpPr>
          <p:cNvPr id="9" name="object 9"/>
          <p:cNvSpPr txBox="1"/>
          <p:nvPr/>
        </p:nvSpPr>
        <p:spPr>
          <a:xfrm>
            <a:off x="762000" y="5372100"/>
            <a:ext cx="5334000" cy="3573671"/>
          </a:xfrm>
          <a:prstGeom prst="rect">
            <a:avLst/>
          </a:prstGeom>
        </p:spPr>
        <p:txBody>
          <a:bodyPr vert="horz" wrap="square" lIns="0" tIns="12065" rIns="0" bIns="0" rtlCol="0">
            <a:spAutoFit/>
          </a:bodyPr>
          <a:lstStyle/>
          <a:p>
            <a:pPr marL="139065" marR="5080" indent="-127000">
              <a:lnSpc>
                <a:spcPct val="116700"/>
              </a:lnSpc>
              <a:spcBef>
                <a:spcPts val="95"/>
              </a:spcBef>
            </a:pPr>
            <a:r>
              <a:rPr lang="en-US" sz="2800" b="1" dirty="0">
                <a:latin typeface="Arial"/>
                <a:cs typeface="Arial"/>
              </a:rPr>
              <a:t>Presented By:</a:t>
            </a:r>
          </a:p>
          <a:p>
            <a:pPr marL="139065" marR="5080" indent="-127000">
              <a:lnSpc>
                <a:spcPct val="116700"/>
              </a:lnSpc>
              <a:spcBef>
                <a:spcPts val="95"/>
              </a:spcBef>
            </a:pPr>
            <a:r>
              <a:rPr lang="en-US" sz="2800" dirty="0" err="1">
                <a:latin typeface="Arial"/>
                <a:cs typeface="Arial"/>
              </a:rPr>
              <a:t>Name:Surabhi</a:t>
            </a:r>
            <a:r>
              <a:rPr lang="en-US" sz="2800" dirty="0">
                <a:latin typeface="Arial"/>
                <a:cs typeface="Arial"/>
              </a:rPr>
              <a:t> H L</a:t>
            </a:r>
          </a:p>
          <a:p>
            <a:pPr marL="139065" marR="5080" indent="-127000">
              <a:lnSpc>
                <a:spcPct val="116700"/>
              </a:lnSpc>
              <a:spcBef>
                <a:spcPts val="95"/>
              </a:spcBef>
            </a:pPr>
            <a:r>
              <a:rPr lang="en-US" sz="2800" dirty="0">
                <a:latin typeface="Arial"/>
                <a:cs typeface="Arial"/>
              </a:rPr>
              <a:t>USN:4JD22IS064</a:t>
            </a:r>
          </a:p>
          <a:p>
            <a:pPr marL="139065" marR="5080" indent="-127000">
              <a:lnSpc>
                <a:spcPct val="116700"/>
              </a:lnSpc>
              <a:spcBef>
                <a:spcPts val="95"/>
              </a:spcBef>
            </a:pPr>
            <a:r>
              <a:rPr lang="en-US" sz="2800" dirty="0" err="1">
                <a:latin typeface="Arial"/>
                <a:cs typeface="Arial"/>
              </a:rPr>
              <a:t>Name:Sinchana</a:t>
            </a:r>
            <a:r>
              <a:rPr lang="en-US" sz="2800" dirty="0">
                <a:latin typeface="Arial"/>
                <a:cs typeface="Arial"/>
              </a:rPr>
              <a:t> P M</a:t>
            </a:r>
          </a:p>
          <a:p>
            <a:pPr marL="139065" marR="5080" indent="-127000">
              <a:lnSpc>
                <a:spcPct val="116700"/>
              </a:lnSpc>
              <a:spcBef>
                <a:spcPts val="95"/>
              </a:spcBef>
            </a:pPr>
            <a:r>
              <a:rPr lang="en-US" sz="2800" dirty="0">
                <a:latin typeface="Arial"/>
                <a:cs typeface="Arial"/>
              </a:rPr>
              <a:t>USN:4JD22CS102</a:t>
            </a:r>
          </a:p>
          <a:p>
            <a:pPr marL="139065" marR="5080" indent="-127000">
              <a:lnSpc>
                <a:spcPct val="116700"/>
              </a:lnSpc>
              <a:spcBef>
                <a:spcPts val="95"/>
              </a:spcBef>
            </a:pPr>
            <a:r>
              <a:rPr lang="en-US" sz="2800" dirty="0" err="1">
                <a:latin typeface="Arial"/>
                <a:cs typeface="Arial"/>
              </a:rPr>
              <a:t>Name:Dhanyashree</a:t>
            </a:r>
            <a:r>
              <a:rPr lang="en-US" sz="2800" dirty="0">
                <a:latin typeface="Arial"/>
                <a:cs typeface="Arial"/>
              </a:rPr>
              <a:t> A S</a:t>
            </a:r>
          </a:p>
          <a:p>
            <a:pPr marL="139065" marR="5080" indent="-127000">
              <a:lnSpc>
                <a:spcPct val="116700"/>
              </a:lnSpc>
              <a:spcBef>
                <a:spcPts val="95"/>
              </a:spcBef>
            </a:pPr>
            <a:r>
              <a:rPr lang="en-US" sz="2800" dirty="0">
                <a:latin typeface="Arial"/>
                <a:cs typeface="Arial"/>
              </a:rPr>
              <a:t>USN:4EG22AI010 </a:t>
            </a:r>
          </a:p>
        </p:txBody>
      </p:sp>
      <p:sp>
        <p:nvSpPr>
          <p:cNvPr id="11" name="TextBox 10">
            <a:extLst>
              <a:ext uri="{FF2B5EF4-FFF2-40B4-BE49-F238E27FC236}">
                <a16:creationId xmlns:a16="http://schemas.microsoft.com/office/drawing/2014/main" id="{334F55BC-06DF-1C56-6069-DFF7AA537A5C}"/>
              </a:ext>
            </a:extLst>
          </p:cNvPr>
          <p:cNvSpPr txBox="1"/>
          <p:nvPr/>
        </p:nvSpPr>
        <p:spPr>
          <a:xfrm>
            <a:off x="14800943" y="6819900"/>
            <a:ext cx="4267200" cy="1384995"/>
          </a:xfrm>
          <a:prstGeom prst="rect">
            <a:avLst/>
          </a:prstGeom>
          <a:noFill/>
        </p:spPr>
        <p:txBody>
          <a:bodyPr wrap="square">
            <a:spAutoFit/>
          </a:bodyPr>
          <a:lstStyle/>
          <a:p>
            <a:pPr>
              <a:defRPr/>
            </a:pPr>
            <a:r>
              <a:rPr lang="en-IN" sz="2800" b="1" dirty="0"/>
              <a:t>Guide name:</a:t>
            </a:r>
          </a:p>
          <a:p>
            <a:pPr>
              <a:defRPr/>
            </a:pPr>
            <a:r>
              <a:rPr lang="en-IN" sz="2800" dirty="0"/>
              <a:t>Kavya NC</a:t>
            </a:r>
          </a:p>
          <a:p>
            <a:pPr>
              <a:defRPr/>
            </a:pPr>
            <a:endParaRPr lang="en-IN"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sp>
          <p:nvSpPr>
            <p:cNvPr id="3" name="object 3"/>
            <p:cNvSpPr/>
            <p:nvPr/>
          </p:nvSpPr>
          <p:spPr>
            <a:xfrm>
              <a:off x="0" y="0"/>
              <a:ext cx="18288000" cy="9258300"/>
            </a:xfrm>
            <a:custGeom>
              <a:avLst/>
              <a:gdLst/>
              <a:ahLst/>
              <a:cxnLst/>
              <a:rect l="l" t="t" r="r" b="b"/>
              <a:pathLst>
                <a:path w="18288000" h="9258300">
                  <a:moveTo>
                    <a:pt x="0" y="9258299"/>
                  </a:moveTo>
                  <a:lnTo>
                    <a:pt x="18287998" y="9258299"/>
                  </a:lnTo>
                  <a:lnTo>
                    <a:pt x="18287998" y="0"/>
                  </a:lnTo>
                  <a:lnTo>
                    <a:pt x="0" y="0"/>
                  </a:lnTo>
                  <a:lnTo>
                    <a:pt x="0" y="9258299"/>
                  </a:lnTo>
                  <a:close/>
                </a:path>
              </a:pathLst>
            </a:custGeom>
            <a:solidFill>
              <a:srgbClr val="D9D6CC"/>
            </a:solidFill>
          </p:spPr>
          <p:txBody>
            <a:bodyPr wrap="square" lIns="0" tIns="0" rIns="0" bIns="0" rtlCol="0"/>
            <a:lstStyle/>
            <a:p>
              <a:endParaRPr/>
            </a:p>
          </p:txBody>
        </p:sp>
        <p:sp>
          <p:nvSpPr>
            <p:cNvPr id="4" name="object 4"/>
            <p:cNvSpPr/>
            <p:nvPr/>
          </p:nvSpPr>
          <p:spPr>
            <a:xfrm>
              <a:off x="0" y="9258300"/>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grpSp>
      <p:sp>
        <p:nvSpPr>
          <p:cNvPr id="7" name="object 7"/>
          <p:cNvSpPr txBox="1">
            <a:spLocks noGrp="1"/>
          </p:cNvSpPr>
          <p:nvPr>
            <p:ph type="title"/>
          </p:nvPr>
        </p:nvSpPr>
        <p:spPr>
          <a:xfrm>
            <a:off x="987393" y="800100"/>
            <a:ext cx="12039600" cy="751488"/>
          </a:xfrm>
          <a:prstGeom prst="rect">
            <a:avLst/>
          </a:prstGeom>
        </p:spPr>
        <p:txBody>
          <a:bodyPr vert="horz" wrap="square" lIns="0" tIns="12700" rIns="0" bIns="0" rtlCol="0">
            <a:spAutoFit/>
          </a:bodyPr>
          <a:lstStyle/>
          <a:p>
            <a:pPr marL="12700">
              <a:lnSpc>
                <a:spcPct val="100000"/>
              </a:lnSpc>
              <a:spcBef>
                <a:spcPts val="100"/>
              </a:spcBef>
            </a:pPr>
            <a:r>
              <a:rPr lang="en-US" sz="4800" u="none" dirty="0">
                <a:solidFill>
                  <a:schemeClr val="tx1"/>
                </a:solidFill>
                <a:latin typeface="Times New Roman" pitchFamily="18" charset="0"/>
                <a:cs typeface="Times New Roman" pitchFamily="18" charset="0"/>
              </a:rPr>
              <a:t>                                       INTRODUCTION </a:t>
            </a:r>
          </a:p>
        </p:txBody>
      </p:sp>
      <p:sp>
        <p:nvSpPr>
          <p:cNvPr id="8" name="object 8"/>
          <p:cNvSpPr txBox="1"/>
          <p:nvPr/>
        </p:nvSpPr>
        <p:spPr>
          <a:xfrm>
            <a:off x="985621" y="647700"/>
            <a:ext cx="14025779" cy="9061455"/>
          </a:xfrm>
          <a:prstGeom prst="rect">
            <a:avLst/>
          </a:prstGeom>
        </p:spPr>
        <p:txBody>
          <a:bodyPr vert="horz" wrap="square" lIns="0" tIns="12700" rIns="0" bIns="0" rtlCol="0">
            <a:spAutoFit/>
          </a:bodyPr>
          <a:lstStyle/>
          <a:p>
            <a:endParaRPr lang="en-US" sz="3600" b="1" dirty="0"/>
          </a:p>
          <a:p>
            <a:endParaRPr lang="en-US" sz="3600" b="1" dirty="0"/>
          </a:p>
          <a:p>
            <a:pPr algn="just"/>
            <a:r>
              <a:rPr lang="en-US" sz="3600" dirty="0"/>
              <a:t>• </a:t>
            </a:r>
            <a:r>
              <a:rPr lang="en-US" sz="3200" dirty="0">
                <a:latin typeface="Times New Roman" pitchFamily="18" charset="0"/>
                <a:cs typeface="Times New Roman" pitchFamily="18" charset="0"/>
              </a:rPr>
              <a:t>In Today’s fast-paced digital business environment, data analytics has become essential in the e-commerce and quick-commerce industry for improving business performance and decision-making.</a:t>
            </a:r>
          </a:p>
          <a:p>
            <a:pPr algn="just"/>
            <a:endParaRPr lang="en-US" sz="3200" dirty="0">
              <a:latin typeface="Times New Roman" pitchFamily="18" charset="0"/>
              <a:cs typeface="Times New Roman" pitchFamily="18" charset="0"/>
            </a:endParaRPr>
          </a:p>
          <a:p>
            <a:pPr algn="just"/>
            <a:r>
              <a:rPr lang="en-US" sz="3200" dirty="0">
                <a:latin typeface="Times New Roman" pitchFamily="18" charset="0"/>
                <a:cs typeface="Times New Roman" pitchFamily="18" charset="0"/>
              </a:rPr>
              <a:t>• Traditional methods of analyzing sales data using spreadsheets and manual reports are time-consuming, inefficient, and difficult to manage for large datasets. To overcome these challenges, we developed a </a:t>
            </a:r>
            <a:r>
              <a:rPr lang="en-US" sz="3200" dirty="0" err="1">
                <a:latin typeface="Times New Roman" pitchFamily="18" charset="0"/>
                <a:cs typeface="Times New Roman" pitchFamily="18" charset="0"/>
              </a:rPr>
              <a:t>Blinkit</a:t>
            </a:r>
            <a:r>
              <a:rPr lang="en-US" sz="3200" dirty="0">
                <a:latin typeface="Times New Roman" pitchFamily="18" charset="0"/>
                <a:cs typeface="Times New Roman" pitchFamily="18" charset="0"/>
              </a:rPr>
              <a:t> Sales Analytics Dashboard.</a:t>
            </a:r>
          </a:p>
          <a:p>
            <a:pPr algn="just"/>
            <a:endParaRPr lang="en-US" sz="3200" dirty="0">
              <a:latin typeface="Times New Roman" pitchFamily="18" charset="0"/>
              <a:cs typeface="Times New Roman" pitchFamily="18" charset="0"/>
            </a:endParaRPr>
          </a:p>
          <a:p>
            <a:pPr algn="just"/>
            <a:r>
              <a:rPr lang="en-US" sz="3200" dirty="0">
                <a:latin typeface="Times New Roman" pitchFamily="18" charset="0"/>
                <a:cs typeface="Times New Roman" pitchFamily="18" charset="0"/>
              </a:rPr>
              <a:t>• The dashboard integrates Python, </a:t>
            </a:r>
            <a:r>
              <a:rPr lang="en-US" sz="3200" dirty="0" err="1">
                <a:latin typeface="Times New Roman" pitchFamily="18" charset="0"/>
                <a:cs typeface="Times New Roman" pitchFamily="18" charset="0"/>
              </a:rPr>
              <a:t>Streamlit</a:t>
            </a:r>
            <a:r>
              <a:rPr lang="en-US" sz="3200" dirty="0">
                <a:latin typeface="Times New Roman" pitchFamily="18" charset="0"/>
                <a:cs typeface="Times New Roman" pitchFamily="18" charset="0"/>
              </a:rPr>
              <a:t>, Pandas, and </a:t>
            </a:r>
            <a:r>
              <a:rPr lang="en-US" sz="3200" dirty="0" err="1">
                <a:latin typeface="Times New Roman" pitchFamily="18" charset="0"/>
                <a:cs typeface="Times New Roman" pitchFamily="18" charset="0"/>
              </a:rPr>
              <a:t>Plotly</a:t>
            </a:r>
            <a:r>
              <a:rPr lang="en-US" sz="3200" dirty="0">
                <a:latin typeface="Times New Roman" pitchFamily="18" charset="0"/>
                <a:cs typeface="Times New Roman" pitchFamily="18" charset="0"/>
              </a:rPr>
              <a:t> to automate sales analysis, provide interactive visualizations, and generate KPI metrics for better business insights.</a:t>
            </a:r>
          </a:p>
          <a:p>
            <a:pPr algn="just"/>
            <a:endParaRPr lang="en-US" sz="3200" dirty="0">
              <a:latin typeface="Times New Roman" pitchFamily="18" charset="0"/>
              <a:cs typeface="Times New Roman" pitchFamily="18" charset="0"/>
            </a:endParaRPr>
          </a:p>
          <a:p>
            <a:pPr algn="just"/>
            <a:r>
              <a:rPr lang="en-US" sz="3200" dirty="0">
                <a:latin typeface="Times New Roman" pitchFamily="18" charset="0"/>
                <a:cs typeface="Times New Roman" pitchFamily="18" charset="0"/>
              </a:rPr>
              <a:t>• Users can monitor sales performance, outlet efficiency, product trends, and customer preferences through an interactive dashboard interface, ensuring faster analysis and accurate reporting.</a:t>
            </a:r>
          </a:p>
          <a:p>
            <a:endParaRPr lang="en-US" sz="3200"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22719" y="4000500"/>
            <a:ext cx="2435041" cy="1990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567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8673A-4FC1-1443-6B18-28B913304D90}"/>
              </a:ext>
            </a:extLst>
          </p:cNvPr>
          <p:cNvSpPr>
            <a:spLocks noGrp="1"/>
          </p:cNvSpPr>
          <p:nvPr>
            <p:ph type="title"/>
          </p:nvPr>
        </p:nvSpPr>
        <p:spPr>
          <a:xfrm>
            <a:off x="535321" y="196837"/>
            <a:ext cx="15258499" cy="1517663"/>
          </a:xfrm>
        </p:spPr>
        <p:txBody>
          <a:bodyPr/>
          <a:lstStyle/>
          <a:p>
            <a:br>
              <a:rPr lang="en-US" sz="4400" u="none" dirty="0">
                <a:solidFill>
                  <a:schemeClr val="tx1"/>
                </a:solidFill>
                <a:latin typeface="Times New Roman" pitchFamily="18" charset="0"/>
                <a:cs typeface="Times New Roman" pitchFamily="18" charset="0"/>
              </a:rPr>
            </a:br>
            <a:r>
              <a:rPr lang="en-US" sz="4400" u="none" dirty="0">
                <a:solidFill>
                  <a:schemeClr val="tx1"/>
                </a:solidFill>
                <a:latin typeface="Times New Roman" pitchFamily="18" charset="0"/>
                <a:cs typeface="Times New Roman" pitchFamily="18" charset="0"/>
              </a:rPr>
              <a:t>                                               PROBLEM STATEMENT</a:t>
            </a:r>
            <a:endParaRPr lang="en-IN" dirty="0"/>
          </a:p>
        </p:txBody>
      </p:sp>
      <p:sp>
        <p:nvSpPr>
          <p:cNvPr id="3" name="Text Placeholder 2">
            <a:extLst>
              <a:ext uri="{FF2B5EF4-FFF2-40B4-BE49-F238E27FC236}">
                <a16:creationId xmlns:a16="http://schemas.microsoft.com/office/drawing/2014/main" id="{4320A602-26D6-ECF8-70C0-2609C6531C47}"/>
              </a:ext>
            </a:extLst>
          </p:cNvPr>
          <p:cNvSpPr>
            <a:spLocks noGrp="1"/>
          </p:cNvSpPr>
          <p:nvPr>
            <p:ph type="body" idx="1"/>
          </p:nvPr>
        </p:nvSpPr>
        <p:spPr>
          <a:xfrm>
            <a:off x="762000" y="1104900"/>
            <a:ext cx="17125178" cy="6647974"/>
          </a:xfrm>
        </p:spPr>
        <p:txBody>
          <a:bodyPr/>
          <a:lstStyle/>
          <a:p>
            <a:endParaRPr lang="en-US" dirty="0">
              <a:latin typeface="+mn-lt"/>
            </a:endParaRPr>
          </a:p>
          <a:p>
            <a:endParaRPr lang="en-US" b="1" dirty="0"/>
          </a:p>
          <a:p>
            <a:r>
              <a:rPr lang="en-US" dirty="0">
                <a:latin typeface="Times New Roman" pitchFamily="18" charset="0"/>
                <a:cs typeface="Times New Roman" pitchFamily="18" charset="0"/>
              </a:rPr>
              <a:t>Design and develop an interactive </a:t>
            </a:r>
            <a:r>
              <a:rPr lang="en-US" dirty="0" err="1">
                <a:latin typeface="Times New Roman" pitchFamily="18" charset="0"/>
                <a:cs typeface="Times New Roman" pitchFamily="18" charset="0"/>
              </a:rPr>
              <a:t>Blinkit</a:t>
            </a:r>
            <a:r>
              <a:rPr lang="en-US" dirty="0">
                <a:latin typeface="Times New Roman" pitchFamily="18" charset="0"/>
                <a:cs typeface="Times New Roman" pitchFamily="18" charset="0"/>
              </a:rPr>
              <a:t> Sales Analytics Dashboard to overcome the difficulties of manual sales data analysis, which is time-consuming, inefficient, and prone to human errors. The system should provide clear visualizations and KPI metrics to help businesses analyze sales performance, customer preferences, outlet efficiency, and product trends effectively.</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 dashboard must address challenges such as handling large datasets, lack of proper sales monitoring, difficulty in identifying top-performing products and outlets, and delayed business decision-making by delivering automated, accurate, interactive, and real-time business insights through charts, filters, and data visualization techniques.</a:t>
            </a:r>
          </a:p>
        </p:txBody>
      </p:sp>
      <p:sp>
        <p:nvSpPr>
          <p:cNvPr id="5" name="object 4">
            <a:extLst>
              <a:ext uri="{FF2B5EF4-FFF2-40B4-BE49-F238E27FC236}">
                <a16:creationId xmlns:a16="http://schemas.microsoft.com/office/drawing/2014/main" id="{87C4D9DA-A1DA-275D-3159-EE3B036E24CF}"/>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spTree>
    <p:extLst>
      <p:ext uri="{BB962C8B-B14F-4D97-AF65-F5344CB8AC3E}">
        <p14:creationId xmlns:p14="http://schemas.microsoft.com/office/powerpoint/2010/main" val="1760425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72DA9-E8C0-1F75-9B93-3FAE8B524B4C}"/>
              </a:ext>
            </a:extLst>
          </p:cNvPr>
          <p:cNvSpPr>
            <a:spLocks noGrp="1"/>
          </p:cNvSpPr>
          <p:nvPr>
            <p:ph type="title"/>
          </p:nvPr>
        </p:nvSpPr>
        <p:spPr>
          <a:xfrm>
            <a:off x="535321" y="196837"/>
            <a:ext cx="15258499" cy="1354217"/>
          </a:xfrm>
        </p:spPr>
        <p:txBody>
          <a:bodyPr/>
          <a:lstStyle/>
          <a:p>
            <a:br>
              <a:rPr lang="en-US" sz="4400" u="none" dirty="0">
                <a:solidFill>
                  <a:schemeClr val="tx1"/>
                </a:solidFill>
                <a:latin typeface="Times New Roman" panose="02020603050405020304" pitchFamily="18" charset="0"/>
                <a:cs typeface="Times New Roman" panose="02020603050405020304" pitchFamily="18" charset="0"/>
              </a:rPr>
            </a:br>
            <a:r>
              <a:rPr lang="en-US" sz="4400" u="none" dirty="0">
                <a:solidFill>
                  <a:schemeClr val="tx1"/>
                </a:solidFill>
                <a:latin typeface="Times New Roman" panose="02020603050405020304" pitchFamily="18" charset="0"/>
                <a:cs typeface="Times New Roman" panose="02020603050405020304" pitchFamily="18" charset="0"/>
              </a:rPr>
              <a:t>                                                  OBJECTIVES</a:t>
            </a: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D310AFF-BBDE-4FAE-A2A8-A22E66DCBD8A}"/>
              </a:ext>
            </a:extLst>
          </p:cNvPr>
          <p:cNvSpPr>
            <a:spLocks noGrp="1"/>
          </p:cNvSpPr>
          <p:nvPr>
            <p:ph type="body" idx="1"/>
          </p:nvPr>
        </p:nvSpPr>
        <p:spPr>
          <a:xfrm>
            <a:off x="1447800" y="2628900"/>
            <a:ext cx="15782290" cy="4055406"/>
          </a:xfrm>
        </p:spPr>
        <p:txBody>
          <a:bodyPr/>
          <a:lstStyle/>
          <a:p>
            <a:pPr>
              <a:lnSpc>
                <a:spcPct val="150000"/>
              </a:lnSpc>
            </a:pPr>
            <a:r>
              <a:rPr lang="en-US" dirty="0"/>
              <a:t>• </a:t>
            </a:r>
            <a:r>
              <a:rPr lang="en-US" dirty="0">
                <a:latin typeface="Times New Roman" pitchFamily="18" charset="0"/>
                <a:cs typeface="Times New Roman" pitchFamily="18" charset="0"/>
              </a:rPr>
              <a:t>To analyze grocery sales data  </a:t>
            </a:r>
          </a:p>
          <a:p>
            <a:pPr>
              <a:lnSpc>
                <a:spcPct val="150000"/>
              </a:lnSpc>
            </a:pPr>
            <a:r>
              <a:rPr lang="en-US" dirty="0">
                <a:latin typeface="Times New Roman" pitchFamily="18" charset="0"/>
                <a:cs typeface="Times New Roman" pitchFamily="18" charset="0"/>
              </a:rPr>
              <a:t>• To identify top-performing products  </a:t>
            </a:r>
          </a:p>
          <a:p>
            <a:pPr>
              <a:lnSpc>
                <a:spcPct val="150000"/>
              </a:lnSpc>
            </a:pPr>
            <a:r>
              <a:rPr lang="en-US" dirty="0">
                <a:latin typeface="Times New Roman" pitchFamily="18" charset="0"/>
                <a:cs typeface="Times New Roman" pitchFamily="18" charset="0"/>
              </a:rPr>
              <a:t>• To understand outlet performance  </a:t>
            </a:r>
          </a:p>
          <a:p>
            <a:pPr>
              <a:lnSpc>
                <a:spcPct val="150000"/>
              </a:lnSpc>
            </a:pPr>
            <a:r>
              <a:rPr lang="en-US" dirty="0">
                <a:latin typeface="Times New Roman" pitchFamily="18" charset="0"/>
                <a:cs typeface="Times New Roman" pitchFamily="18" charset="0"/>
              </a:rPr>
              <a:t>• To reduce manual data analysis  </a:t>
            </a:r>
          </a:p>
          <a:p>
            <a:pPr>
              <a:lnSpc>
                <a:spcPct val="150000"/>
              </a:lnSpc>
            </a:pPr>
            <a:r>
              <a:rPr lang="en-US" dirty="0">
                <a:latin typeface="Times New Roman" pitchFamily="18" charset="0"/>
                <a:cs typeface="Times New Roman" pitchFamily="18" charset="0"/>
              </a:rPr>
              <a:t>• To create dashboards for decision making</a:t>
            </a:r>
            <a:endParaRPr lang="en-IN" dirty="0">
              <a:latin typeface="Times New Roman" pitchFamily="18" charset="0"/>
              <a:cs typeface="Times New Roman" pitchFamily="18" charset="0"/>
            </a:endParaRPr>
          </a:p>
        </p:txBody>
      </p:sp>
      <p:sp>
        <p:nvSpPr>
          <p:cNvPr id="4" name="object 4">
            <a:extLst>
              <a:ext uri="{FF2B5EF4-FFF2-40B4-BE49-F238E27FC236}">
                <a16:creationId xmlns:a16="http://schemas.microsoft.com/office/drawing/2014/main" id="{A6E71D8F-BB98-0359-BCEE-2D0BAA2D6B97}"/>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spTree>
    <p:extLst>
      <p:ext uri="{BB962C8B-B14F-4D97-AF65-F5344CB8AC3E}">
        <p14:creationId xmlns:p14="http://schemas.microsoft.com/office/powerpoint/2010/main" val="2837770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ED667-C234-7527-C21B-A9FB4A27C2E2}"/>
              </a:ext>
            </a:extLst>
          </p:cNvPr>
          <p:cNvSpPr>
            <a:spLocks noGrp="1"/>
          </p:cNvSpPr>
          <p:nvPr>
            <p:ph type="title"/>
          </p:nvPr>
        </p:nvSpPr>
        <p:spPr>
          <a:xfrm>
            <a:off x="609600" y="1181100"/>
            <a:ext cx="15258499" cy="677108"/>
          </a:xfrm>
        </p:spPr>
        <p:txBody>
          <a:bodyPr/>
          <a:lstStyle/>
          <a:p>
            <a:r>
              <a:rPr lang="en-US" u="none" dirty="0">
                <a:solidFill>
                  <a:schemeClr val="tx1"/>
                </a:solidFill>
              </a:rPr>
              <a:t>                                     </a:t>
            </a:r>
            <a:r>
              <a:rPr lang="en-IN" sz="4400" u="none" dirty="0">
                <a:latin typeface="Times New Roman" pitchFamily="18" charset="0"/>
                <a:cs typeface="Times New Roman" pitchFamily="18" charset="0"/>
              </a:rPr>
              <a:t>SCOPE OF THE PROJECT</a:t>
            </a: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A725661-3960-0EC5-22F2-F671EE6389B6}"/>
              </a:ext>
            </a:extLst>
          </p:cNvPr>
          <p:cNvSpPr>
            <a:spLocks noGrp="1"/>
          </p:cNvSpPr>
          <p:nvPr>
            <p:ph type="body" idx="1"/>
          </p:nvPr>
        </p:nvSpPr>
        <p:spPr>
          <a:xfrm>
            <a:off x="1252855" y="2396113"/>
            <a:ext cx="15782290" cy="4985980"/>
          </a:xfrm>
        </p:spPr>
        <p:txBody>
          <a:bodyPr/>
          <a:lstStyle/>
          <a:p>
            <a:pPr>
              <a:lnSpc>
                <a:spcPct val="150000"/>
              </a:lnSpc>
            </a:pPr>
            <a:r>
              <a:rPr lang="en-US" dirty="0">
                <a:latin typeface="Times New Roman" pitchFamily="18" charset="0"/>
                <a:cs typeface="Times New Roman" pitchFamily="18" charset="0"/>
              </a:rPr>
              <a:t>The Project is mainly focused on analyzing </a:t>
            </a:r>
            <a:r>
              <a:rPr lang="en-US" dirty="0" err="1">
                <a:latin typeface="Times New Roman" pitchFamily="18" charset="0"/>
                <a:cs typeface="Times New Roman" pitchFamily="18" charset="0"/>
              </a:rPr>
              <a:t>Blinkit</a:t>
            </a:r>
            <a:r>
              <a:rPr lang="en-US" dirty="0">
                <a:latin typeface="Times New Roman" pitchFamily="18" charset="0"/>
                <a:cs typeface="Times New Roman" pitchFamily="18" charset="0"/>
              </a:rPr>
              <a:t> sales data and generating business insights through interactive dashboards. The dashboard allows users to monitor sales performance, outlet details, product categories, and customer preferences. The project includes modules such as KPI analysis, sales visualization, outlet analysis, and filter-based reporting. It can be further enhanced in the future by adding machine learning predictions, cloud deployment, and real-time analytics.</a:t>
            </a:r>
          </a:p>
        </p:txBody>
      </p:sp>
      <p:sp>
        <p:nvSpPr>
          <p:cNvPr id="4" name="object 4">
            <a:extLst>
              <a:ext uri="{FF2B5EF4-FFF2-40B4-BE49-F238E27FC236}">
                <a16:creationId xmlns:a16="http://schemas.microsoft.com/office/drawing/2014/main" id="{E186B6F0-5072-74A5-B4E8-92991A20E872}"/>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spTree>
    <p:extLst>
      <p:ext uri="{BB962C8B-B14F-4D97-AF65-F5344CB8AC3E}">
        <p14:creationId xmlns:p14="http://schemas.microsoft.com/office/powerpoint/2010/main" val="1326262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979A2-C5A5-7595-23C3-E34F0D72D381}"/>
              </a:ext>
            </a:extLst>
          </p:cNvPr>
          <p:cNvSpPr>
            <a:spLocks noGrp="1"/>
          </p:cNvSpPr>
          <p:nvPr>
            <p:ph type="title"/>
          </p:nvPr>
        </p:nvSpPr>
        <p:spPr>
          <a:xfrm>
            <a:off x="535321" y="196837"/>
            <a:ext cx="15258499" cy="1354217"/>
          </a:xfrm>
        </p:spPr>
        <p:txBody>
          <a:bodyPr/>
          <a:lstStyle/>
          <a:p>
            <a:r>
              <a:rPr lang="en-US" sz="4400" u="none" dirty="0">
                <a:solidFill>
                  <a:schemeClr val="tx1"/>
                </a:solidFill>
                <a:latin typeface="Times New Roman" panose="02020603050405020304" pitchFamily="18" charset="0"/>
                <a:cs typeface="Times New Roman" panose="02020603050405020304" pitchFamily="18" charset="0"/>
              </a:rPr>
              <a:t>  </a:t>
            </a:r>
            <a:br>
              <a:rPr lang="en-US" sz="4400" u="none" dirty="0">
                <a:solidFill>
                  <a:schemeClr val="tx1"/>
                </a:solidFill>
                <a:latin typeface="Times New Roman" panose="02020603050405020304" pitchFamily="18" charset="0"/>
                <a:cs typeface="Times New Roman" panose="02020603050405020304" pitchFamily="18" charset="0"/>
              </a:rPr>
            </a:br>
            <a:r>
              <a:rPr lang="en-US" sz="4400" u="none" dirty="0">
                <a:solidFill>
                  <a:schemeClr val="tx1"/>
                </a:solidFill>
                <a:latin typeface="Times New Roman" panose="02020603050405020304" pitchFamily="18" charset="0"/>
                <a:cs typeface="Times New Roman" panose="02020603050405020304" pitchFamily="18" charset="0"/>
              </a:rPr>
              <a:t>                                                 EXISTING SYSTEM</a:t>
            </a: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D5C906E-DF85-788C-5DEA-ED40AC95218F}"/>
              </a:ext>
            </a:extLst>
          </p:cNvPr>
          <p:cNvSpPr>
            <a:spLocks noGrp="1"/>
          </p:cNvSpPr>
          <p:nvPr>
            <p:ph type="body" idx="1"/>
          </p:nvPr>
        </p:nvSpPr>
        <p:spPr>
          <a:xfrm>
            <a:off x="1676400" y="2348326"/>
            <a:ext cx="15782290" cy="4055406"/>
          </a:xfrm>
        </p:spPr>
        <p:txBody>
          <a:bodyPr/>
          <a:lstStyle/>
          <a:p>
            <a:pPr>
              <a:lnSpc>
                <a:spcPct val="150000"/>
              </a:lnSpc>
            </a:pPr>
            <a:r>
              <a:rPr lang="en-US" dirty="0"/>
              <a:t>• </a:t>
            </a:r>
            <a:r>
              <a:rPr lang="en-US" dirty="0">
                <a:latin typeface="Times New Roman" pitchFamily="18" charset="0"/>
                <a:cs typeface="Times New Roman" pitchFamily="18" charset="0"/>
              </a:rPr>
              <a:t>Data stored in Excel sheets  </a:t>
            </a:r>
          </a:p>
          <a:p>
            <a:pPr>
              <a:lnSpc>
                <a:spcPct val="150000"/>
              </a:lnSpc>
            </a:pPr>
            <a:r>
              <a:rPr lang="en-US" dirty="0">
                <a:latin typeface="Times New Roman" pitchFamily="18" charset="0"/>
                <a:cs typeface="Times New Roman" pitchFamily="18" charset="0"/>
              </a:rPr>
              <a:t>• Manual analysis of sales data  </a:t>
            </a:r>
          </a:p>
          <a:p>
            <a:pPr>
              <a:lnSpc>
                <a:spcPct val="150000"/>
              </a:lnSpc>
            </a:pPr>
            <a:r>
              <a:rPr lang="en-US" dirty="0">
                <a:latin typeface="Times New Roman" pitchFamily="18" charset="0"/>
                <a:cs typeface="Times New Roman" pitchFamily="18" charset="0"/>
              </a:rPr>
              <a:t>• No proper visualization tools  </a:t>
            </a:r>
          </a:p>
          <a:p>
            <a:pPr>
              <a:lnSpc>
                <a:spcPct val="150000"/>
              </a:lnSpc>
            </a:pPr>
            <a:r>
              <a:rPr lang="en-US" dirty="0">
                <a:latin typeface="Times New Roman" pitchFamily="18" charset="0"/>
                <a:cs typeface="Times New Roman" pitchFamily="18" charset="0"/>
              </a:rPr>
              <a:t>• Time-consuming and error-prone  </a:t>
            </a:r>
          </a:p>
          <a:p>
            <a:pPr>
              <a:lnSpc>
                <a:spcPct val="150000"/>
              </a:lnSpc>
            </a:pPr>
            <a:r>
              <a:rPr lang="en-US" dirty="0">
                <a:latin typeface="Times New Roman" pitchFamily="18" charset="0"/>
                <a:cs typeface="Times New Roman" pitchFamily="18" charset="0"/>
              </a:rPr>
              <a:t>• Difficult to track performance</a:t>
            </a:r>
            <a:endParaRPr lang="en-IN" dirty="0">
              <a:latin typeface="Times New Roman" pitchFamily="18" charset="0"/>
              <a:cs typeface="Times New Roman" pitchFamily="18" charset="0"/>
            </a:endParaRPr>
          </a:p>
        </p:txBody>
      </p:sp>
      <p:sp>
        <p:nvSpPr>
          <p:cNvPr id="4" name="object 4">
            <a:extLst>
              <a:ext uri="{FF2B5EF4-FFF2-40B4-BE49-F238E27FC236}">
                <a16:creationId xmlns:a16="http://schemas.microsoft.com/office/drawing/2014/main" id="{01EC584E-B81F-D737-BBB7-2A74AF05F9DC}"/>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spTree>
    <p:extLst>
      <p:ext uri="{BB962C8B-B14F-4D97-AF65-F5344CB8AC3E}">
        <p14:creationId xmlns:p14="http://schemas.microsoft.com/office/powerpoint/2010/main" val="3210164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E4764-7FBB-B383-74C9-7C38DD373627}"/>
              </a:ext>
            </a:extLst>
          </p:cNvPr>
          <p:cNvSpPr>
            <a:spLocks noGrp="1"/>
          </p:cNvSpPr>
          <p:nvPr>
            <p:ph type="title"/>
          </p:nvPr>
        </p:nvSpPr>
        <p:spPr>
          <a:xfrm>
            <a:off x="535321" y="196837"/>
            <a:ext cx="15258499" cy="1354217"/>
          </a:xfrm>
        </p:spPr>
        <p:txBody>
          <a:bodyPr/>
          <a:lstStyle/>
          <a:p>
            <a:br>
              <a:rPr lang="en-US" sz="4400" u="none" dirty="0">
                <a:solidFill>
                  <a:schemeClr val="tx1"/>
                </a:solidFill>
                <a:latin typeface="Times New Roman" panose="02020603050405020304" pitchFamily="18" charset="0"/>
                <a:cs typeface="Times New Roman" panose="02020603050405020304" pitchFamily="18" charset="0"/>
              </a:rPr>
            </a:br>
            <a:r>
              <a:rPr lang="en-US" sz="4400" u="none" dirty="0">
                <a:solidFill>
                  <a:schemeClr val="tx1"/>
                </a:solidFill>
                <a:latin typeface="Times New Roman" panose="02020603050405020304" pitchFamily="18" charset="0"/>
                <a:cs typeface="Times New Roman" panose="02020603050405020304" pitchFamily="18" charset="0"/>
              </a:rPr>
              <a:t>                                            PROPOSED SYSTEM</a:t>
            </a: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A2912A1-9DE8-866B-773D-9E45D5D7B4C7}"/>
              </a:ext>
            </a:extLst>
          </p:cNvPr>
          <p:cNvSpPr>
            <a:spLocks noGrp="1"/>
          </p:cNvSpPr>
          <p:nvPr>
            <p:ph type="body" idx="1"/>
          </p:nvPr>
        </p:nvSpPr>
        <p:spPr>
          <a:xfrm>
            <a:off x="1600200" y="2663262"/>
            <a:ext cx="15782290" cy="4055406"/>
          </a:xfrm>
        </p:spPr>
        <p:txBody>
          <a:bodyPr/>
          <a:lstStyle/>
          <a:p>
            <a:pPr>
              <a:lnSpc>
                <a:spcPct val="150000"/>
              </a:lnSpc>
            </a:pPr>
            <a:r>
              <a:rPr lang="en-IN" dirty="0"/>
              <a:t>• </a:t>
            </a:r>
            <a:r>
              <a:rPr lang="en-IN" dirty="0">
                <a:latin typeface="Times New Roman" pitchFamily="18" charset="0"/>
                <a:cs typeface="Times New Roman" pitchFamily="18" charset="0"/>
              </a:rPr>
              <a:t>Automated data preprocessing using Python  </a:t>
            </a:r>
          </a:p>
          <a:p>
            <a:pPr>
              <a:lnSpc>
                <a:spcPct val="150000"/>
              </a:lnSpc>
            </a:pPr>
            <a:r>
              <a:rPr lang="en-IN" dirty="0">
                <a:latin typeface="Times New Roman" pitchFamily="18" charset="0"/>
                <a:cs typeface="Times New Roman" pitchFamily="18" charset="0"/>
              </a:rPr>
              <a:t>• Data storage using MySQL  </a:t>
            </a:r>
          </a:p>
          <a:p>
            <a:pPr>
              <a:lnSpc>
                <a:spcPct val="150000"/>
              </a:lnSpc>
            </a:pPr>
            <a:r>
              <a:rPr lang="en-IN" dirty="0">
                <a:latin typeface="Times New Roman" pitchFamily="18" charset="0"/>
                <a:cs typeface="Times New Roman" pitchFamily="18" charset="0"/>
              </a:rPr>
              <a:t>• Interactive dashboards using Power BI  </a:t>
            </a:r>
          </a:p>
          <a:p>
            <a:pPr>
              <a:lnSpc>
                <a:spcPct val="150000"/>
              </a:lnSpc>
            </a:pPr>
            <a:r>
              <a:rPr lang="en-IN" dirty="0">
                <a:latin typeface="Times New Roman" pitchFamily="18" charset="0"/>
                <a:cs typeface="Times New Roman" pitchFamily="18" charset="0"/>
              </a:rPr>
              <a:t>• Web dashboard using </a:t>
            </a:r>
            <a:r>
              <a:rPr lang="en-IN" dirty="0" err="1">
                <a:latin typeface="Times New Roman" pitchFamily="18" charset="0"/>
                <a:cs typeface="Times New Roman" pitchFamily="18" charset="0"/>
              </a:rPr>
              <a:t>Streamlit</a:t>
            </a:r>
            <a:r>
              <a:rPr lang="en-IN" dirty="0">
                <a:latin typeface="Times New Roman" pitchFamily="18" charset="0"/>
                <a:cs typeface="Times New Roman" pitchFamily="18" charset="0"/>
              </a:rPr>
              <a:t>  </a:t>
            </a:r>
          </a:p>
          <a:p>
            <a:pPr>
              <a:lnSpc>
                <a:spcPct val="150000"/>
              </a:lnSpc>
            </a:pPr>
            <a:r>
              <a:rPr lang="en-IN" dirty="0">
                <a:latin typeface="Times New Roman" pitchFamily="18" charset="0"/>
                <a:cs typeface="Times New Roman" pitchFamily="18" charset="0"/>
              </a:rPr>
              <a:t>• Better visualization and insights</a:t>
            </a:r>
          </a:p>
        </p:txBody>
      </p:sp>
      <p:sp>
        <p:nvSpPr>
          <p:cNvPr id="4" name="object 4">
            <a:extLst>
              <a:ext uri="{FF2B5EF4-FFF2-40B4-BE49-F238E27FC236}">
                <a16:creationId xmlns:a16="http://schemas.microsoft.com/office/drawing/2014/main" id="{D5CFF24D-A0D6-203D-5ADE-F87E3C1CE204}"/>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spTree>
    <p:extLst>
      <p:ext uri="{BB962C8B-B14F-4D97-AF65-F5344CB8AC3E}">
        <p14:creationId xmlns:p14="http://schemas.microsoft.com/office/powerpoint/2010/main" val="1040774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5F3CC-078B-3A5B-C9CA-42929438F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D3CBD-4AFA-3D56-C3C5-DE001D8DE966}"/>
              </a:ext>
            </a:extLst>
          </p:cNvPr>
          <p:cNvSpPr>
            <a:spLocks noGrp="1"/>
          </p:cNvSpPr>
          <p:nvPr>
            <p:ph type="title"/>
          </p:nvPr>
        </p:nvSpPr>
        <p:spPr>
          <a:xfrm>
            <a:off x="530004" y="-190500"/>
            <a:ext cx="15258499" cy="1354217"/>
          </a:xfrm>
        </p:spPr>
        <p:txBody>
          <a:bodyPr/>
          <a:lstStyle/>
          <a:p>
            <a:br>
              <a:rPr lang="en-US" sz="4400" u="none" dirty="0">
                <a:solidFill>
                  <a:schemeClr val="tx1"/>
                </a:solidFill>
                <a:latin typeface="Times New Roman" panose="02020603050405020304" pitchFamily="18" charset="0"/>
                <a:cs typeface="Times New Roman" panose="02020603050405020304" pitchFamily="18" charset="0"/>
              </a:rPr>
            </a:br>
            <a:r>
              <a:rPr lang="en-US" sz="4400" u="none" dirty="0">
                <a:solidFill>
                  <a:schemeClr val="tx1"/>
                </a:solidFill>
                <a:latin typeface="Times New Roman" panose="02020603050405020304" pitchFamily="18" charset="0"/>
                <a:cs typeface="Times New Roman" panose="02020603050405020304" pitchFamily="18" charset="0"/>
              </a:rPr>
              <a:t>                                             TECHNOLOGY STACK</a:t>
            </a: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DCC55D6-F21D-C029-7A1A-4A9B71AB336E}"/>
              </a:ext>
            </a:extLst>
          </p:cNvPr>
          <p:cNvSpPr>
            <a:spLocks noGrp="1"/>
          </p:cNvSpPr>
          <p:nvPr>
            <p:ph type="body" idx="1"/>
          </p:nvPr>
        </p:nvSpPr>
        <p:spPr>
          <a:xfrm>
            <a:off x="1600200" y="2108957"/>
            <a:ext cx="15782290" cy="7755969"/>
          </a:xfrm>
        </p:spPr>
        <p:txBody>
          <a:bodyPr/>
          <a:lstStyle/>
          <a:p>
            <a:r>
              <a:rPr lang="en-IN" b="1" dirty="0">
                <a:latin typeface="+mn-lt"/>
              </a:rPr>
              <a:t>Frontend</a:t>
            </a:r>
            <a:r>
              <a:rPr lang="en-IN" dirty="0">
                <a:latin typeface="+mn-lt"/>
              </a:rPr>
              <a:t>:</a:t>
            </a:r>
          </a:p>
          <a:p>
            <a:r>
              <a:rPr lang="en-IN" dirty="0">
                <a:latin typeface="+mn-lt"/>
              </a:rPr>
              <a:t>   • </a:t>
            </a:r>
            <a:r>
              <a:rPr lang="en-IN" dirty="0" err="1">
                <a:latin typeface="+mn-lt"/>
              </a:rPr>
              <a:t>Streamlit</a:t>
            </a:r>
            <a:r>
              <a:rPr lang="en-IN" dirty="0">
                <a:latin typeface="+mn-lt"/>
              </a:rPr>
              <a:t> (Web Dashboard)</a:t>
            </a:r>
          </a:p>
          <a:p>
            <a:endParaRPr lang="en-IN" dirty="0">
              <a:latin typeface="+mn-lt"/>
            </a:endParaRPr>
          </a:p>
          <a:p>
            <a:r>
              <a:rPr lang="en-IN" b="1" dirty="0">
                <a:latin typeface="+mn-lt"/>
              </a:rPr>
              <a:t>Backend:</a:t>
            </a:r>
          </a:p>
          <a:p>
            <a:r>
              <a:rPr lang="en-IN" dirty="0">
                <a:latin typeface="+mn-lt"/>
              </a:rPr>
              <a:t>   • Python</a:t>
            </a:r>
          </a:p>
          <a:p>
            <a:endParaRPr lang="en-IN" dirty="0">
              <a:latin typeface="+mn-lt"/>
            </a:endParaRPr>
          </a:p>
          <a:p>
            <a:r>
              <a:rPr lang="en-IN" b="1" dirty="0">
                <a:latin typeface="+mn-lt"/>
              </a:rPr>
              <a:t>Database:</a:t>
            </a:r>
          </a:p>
          <a:p>
            <a:r>
              <a:rPr lang="en-IN" dirty="0">
                <a:latin typeface="+mn-lt"/>
              </a:rPr>
              <a:t>   • MySQL</a:t>
            </a:r>
          </a:p>
          <a:p>
            <a:endParaRPr lang="en-IN" dirty="0">
              <a:latin typeface="+mn-lt"/>
            </a:endParaRPr>
          </a:p>
          <a:p>
            <a:r>
              <a:rPr lang="en-IN" b="1" dirty="0">
                <a:latin typeface="+mn-lt"/>
              </a:rPr>
              <a:t>Tools:</a:t>
            </a:r>
          </a:p>
          <a:p>
            <a:r>
              <a:rPr lang="en-IN" b="1" dirty="0">
                <a:latin typeface="+mn-lt"/>
              </a:rPr>
              <a:t>   </a:t>
            </a:r>
            <a:r>
              <a:rPr lang="en-IN" dirty="0">
                <a:latin typeface="+mn-lt"/>
              </a:rPr>
              <a:t>• </a:t>
            </a:r>
            <a:r>
              <a:rPr lang="en-IN" dirty="0" err="1">
                <a:latin typeface="+mn-lt"/>
              </a:rPr>
              <a:t>Jupter</a:t>
            </a:r>
            <a:r>
              <a:rPr lang="en-IN" dirty="0">
                <a:latin typeface="+mn-lt"/>
              </a:rPr>
              <a:t> Notebook  </a:t>
            </a:r>
          </a:p>
          <a:p>
            <a:r>
              <a:rPr lang="en-IN" b="1" dirty="0">
                <a:latin typeface="+mn-lt"/>
              </a:rPr>
              <a:t>  </a:t>
            </a:r>
            <a:r>
              <a:rPr lang="en-IN" dirty="0"/>
              <a:t> </a:t>
            </a:r>
            <a:r>
              <a:rPr lang="en-IN" dirty="0">
                <a:latin typeface="+mn-lt"/>
              </a:rPr>
              <a:t>• VS Code  </a:t>
            </a:r>
            <a:endParaRPr lang="en-IN" b="1" dirty="0">
              <a:latin typeface="+mn-lt"/>
            </a:endParaRPr>
          </a:p>
          <a:p>
            <a:r>
              <a:rPr lang="en-IN" dirty="0">
                <a:latin typeface="+mn-lt"/>
              </a:rPr>
              <a:t>   • Power BI  </a:t>
            </a:r>
          </a:p>
          <a:p>
            <a:r>
              <a:rPr lang="en-IN" dirty="0">
                <a:latin typeface="+mn-lt"/>
              </a:rPr>
              <a:t>   </a:t>
            </a:r>
          </a:p>
        </p:txBody>
      </p:sp>
      <p:sp>
        <p:nvSpPr>
          <p:cNvPr id="4" name="object 4">
            <a:extLst>
              <a:ext uri="{FF2B5EF4-FFF2-40B4-BE49-F238E27FC236}">
                <a16:creationId xmlns:a16="http://schemas.microsoft.com/office/drawing/2014/main" id="{61100F2D-3E1D-CC80-3261-DB667F747CE7}"/>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pic>
        <p:nvPicPr>
          <p:cNvPr id="5" name="object 2">
            <a:extLst>
              <a:ext uri="{FF2B5EF4-FFF2-40B4-BE49-F238E27FC236}">
                <a16:creationId xmlns:a16="http://schemas.microsoft.com/office/drawing/2014/main" id="{CACF5471-AE65-9855-A0A6-7A1C9A8605AD}"/>
              </a:ext>
            </a:extLst>
          </p:cNvPr>
          <p:cNvPicPr/>
          <p:nvPr/>
        </p:nvPicPr>
        <p:blipFill>
          <a:blip r:embed="rId3" cstate="print"/>
          <a:stretch>
            <a:fillRect/>
          </a:stretch>
        </p:blipFill>
        <p:spPr>
          <a:xfrm>
            <a:off x="8093652" y="7635772"/>
            <a:ext cx="1295400" cy="1600200"/>
          </a:xfrm>
          <a:prstGeom prst="rect">
            <a:avLst/>
          </a:prstGeom>
        </p:spPr>
      </p:pic>
      <p:pic>
        <p:nvPicPr>
          <p:cNvPr id="6" name="object 3">
            <a:extLst>
              <a:ext uri="{FF2B5EF4-FFF2-40B4-BE49-F238E27FC236}">
                <a16:creationId xmlns:a16="http://schemas.microsoft.com/office/drawing/2014/main" id="{4AD81B00-7DA5-2BC8-99E7-3BEA8AA126B0}"/>
              </a:ext>
            </a:extLst>
          </p:cNvPr>
          <p:cNvPicPr/>
          <p:nvPr/>
        </p:nvPicPr>
        <p:blipFill>
          <a:blip r:embed="rId4" cstate="print"/>
          <a:stretch>
            <a:fillRect/>
          </a:stretch>
        </p:blipFill>
        <p:spPr>
          <a:xfrm>
            <a:off x="7799399" y="5496256"/>
            <a:ext cx="1826996" cy="1491169"/>
          </a:xfrm>
          <a:prstGeom prst="rect">
            <a:avLst/>
          </a:prstGeom>
        </p:spPr>
      </p:pic>
      <p:pic>
        <p:nvPicPr>
          <p:cNvPr id="7" name="object 7">
            <a:extLst>
              <a:ext uri="{FF2B5EF4-FFF2-40B4-BE49-F238E27FC236}">
                <a16:creationId xmlns:a16="http://schemas.microsoft.com/office/drawing/2014/main" id="{0329399F-1C45-6A33-0220-CABC1A84D07E}"/>
              </a:ext>
            </a:extLst>
          </p:cNvPr>
          <p:cNvPicPr/>
          <p:nvPr/>
        </p:nvPicPr>
        <p:blipFill>
          <a:blip r:embed="rId5" cstate="print"/>
          <a:stretch>
            <a:fillRect/>
          </a:stretch>
        </p:blipFill>
        <p:spPr>
          <a:xfrm>
            <a:off x="7878073" y="3470746"/>
            <a:ext cx="1726557" cy="1672754"/>
          </a:xfrm>
          <a:prstGeom prst="rect">
            <a:avLst/>
          </a:prstGeom>
        </p:spPr>
      </p:pic>
      <p:pic>
        <p:nvPicPr>
          <p:cNvPr id="10" name="Picture 9">
            <a:extLst>
              <a:ext uri="{FF2B5EF4-FFF2-40B4-BE49-F238E27FC236}">
                <a16:creationId xmlns:a16="http://schemas.microsoft.com/office/drawing/2014/main" id="{2927A307-0BAA-3880-135A-CC5191A8102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619863" y="7720102"/>
            <a:ext cx="2347913" cy="1431539"/>
          </a:xfrm>
          <a:prstGeom prst="rect">
            <a:avLst/>
          </a:prstGeom>
        </p:spPr>
      </p:pic>
      <p:pic>
        <p:nvPicPr>
          <p:cNvPr id="12" name="Picture 11">
            <a:extLst>
              <a:ext uri="{FF2B5EF4-FFF2-40B4-BE49-F238E27FC236}">
                <a16:creationId xmlns:a16="http://schemas.microsoft.com/office/drawing/2014/main" id="{316BBA37-CBDD-3B6A-4C59-A4F478B801E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190605" y="7804433"/>
            <a:ext cx="1826996" cy="1431539"/>
          </a:xfrm>
          <a:prstGeom prst="rect">
            <a:avLst/>
          </a:prstGeom>
        </p:spPr>
      </p:pic>
      <p:pic>
        <p:nvPicPr>
          <p:cNvPr id="14" name="Picture 13">
            <a:extLst>
              <a:ext uri="{FF2B5EF4-FFF2-40B4-BE49-F238E27FC236}">
                <a16:creationId xmlns:a16="http://schemas.microsoft.com/office/drawing/2014/main" id="{0025410D-1A8B-71A4-E58D-C9B9B5FE7FA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787775" y="1605698"/>
            <a:ext cx="1965826" cy="1512292"/>
          </a:xfrm>
          <a:prstGeom prst="rect">
            <a:avLst/>
          </a:prstGeom>
        </p:spPr>
      </p:pic>
    </p:spTree>
    <p:extLst>
      <p:ext uri="{BB962C8B-B14F-4D97-AF65-F5344CB8AC3E}">
        <p14:creationId xmlns:p14="http://schemas.microsoft.com/office/powerpoint/2010/main" val="2983044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740D5-7AEE-FADA-6669-D865E60B54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6D639-92C9-FB41-B17F-8F04FB23F1CE}"/>
              </a:ext>
            </a:extLst>
          </p:cNvPr>
          <p:cNvSpPr>
            <a:spLocks noGrp="1"/>
          </p:cNvSpPr>
          <p:nvPr>
            <p:ph type="title"/>
          </p:nvPr>
        </p:nvSpPr>
        <p:spPr>
          <a:xfrm>
            <a:off x="535321" y="196837"/>
            <a:ext cx="15258499" cy="677108"/>
          </a:xfrm>
        </p:spPr>
        <p:txBody>
          <a:bodyPr/>
          <a:lstStyle/>
          <a:p>
            <a:r>
              <a:rPr lang="en-US" sz="4400" u="none" dirty="0">
                <a:solidFill>
                  <a:schemeClr val="tx1"/>
                </a:solidFill>
                <a:latin typeface="Times New Roman" panose="02020603050405020304" pitchFamily="18" charset="0"/>
                <a:cs typeface="Times New Roman" panose="02020603050405020304" pitchFamily="18" charset="0"/>
              </a:rPr>
              <a:t>                                           SYSTEM ARCHITECTURE</a:t>
            </a:r>
            <a:endParaRPr lang="en-IN" sz="4400" u="none" dirty="0">
              <a:solidFill>
                <a:schemeClr val="tx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43D5BC19-2F33-A432-BA65-0FECD94B0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501" y="1257300"/>
            <a:ext cx="16401499" cy="8832863"/>
          </a:xfrm>
          <a:prstGeom prst="rect">
            <a:avLst/>
          </a:prstGeom>
        </p:spPr>
      </p:pic>
    </p:spTree>
    <p:extLst>
      <p:ext uri="{BB962C8B-B14F-4D97-AF65-F5344CB8AC3E}">
        <p14:creationId xmlns:p14="http://schemas.microsoft.com/office/powerpoint/2010/main" val="1901754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CC185-16AA-3820-F430-03134B51F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045B2-42BE-5171-2E8A-4164E4011CD4}"/>
              </a:ext>
            </a:extLst>
          </p:cNvPr>
          <p:cNvSpPr>
            <a:spLocks noGrp="1"/>
          </p:cNvSpPr>
          <p:nvPr>
            <p:ph type="title"/>
          </p:nvPr>
        </p:nvSpPr>
        <p:spPr>
          <a:xfrm>
            <a:off x="535321" y="196837"/>
            <a:ext cx="15258499" cy="1354217"/>
          </a:xfrm>
        </p:spPr>
        <p:txBody>
          <a:bodyPr/>
          <a:lstStyle/>
          <a:p>
            <a:br>
              <a:rPr lang="en-US" sz="4400" u="none" dirty="0">
                <a:solidFill>
                  <a:schemeClr val="tx1"/>
                </a:solidFill>
                <a:latin typeface="Times New Roman" panose="02020603050405020304" pitchFamily="18" charset="0"/>
                <a:cs typeface="Times New Roman" panose="02020603050405020304" pitchFamily="18" charset="0"/>
              </a:rPr>
            </a:br>
            <a:r>
              <a:rPr lang="en-US" sz="4400" u="none" dirty="0">
                <a:solidFill>
                  <a:schemeClr val="tx1"/>
                </a:solidFill>
                <a:latin typeface="Times New Roman" panose="02020603050405020304" pitchFamily="18" charset="0"/>
                <a:cs typeface="Times New Roman" panose="02020603050405020304" pitchFamily="18" charset="0"/>
              </a:rPr>
              <a:t>                                         MODULES OF PROJECT</a:t>
            </a: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1E8E6BB-98D8-600B-AD3C-710DF7F85616}"/>
              </a:ext>
            </a:extLst>
          </p:cNvPr>
          <p:cNvSpPr>
            <a:spLocks noGrp="1"/>
          </p:cNvSpPr>
          <p:nvPr>
            <p:ph type="body" idx="1"/>
          </p:nvPr>
        </p:nvSpPr>
        <p:spPr>
          <a:xfrm>
            <a:off x="1447800" y="2109264"/>
            <a:ext cx="15782290" cy="6093976"/>
          </a:xfrm>
        </p:spPr>
        <p:txBody>
          <a:bodyPr/>
          <a:lstStyle/>
          <a:p>
            <a:pPr marL="742950" indent="-742950">
              <a:buAutoNum type="arabicPeriod"/>
            </a:pPr>
            <a:r>
              <a:rPr lang="en-US" b="1" dirty="0">
                <a:solidFill>
                  <a:schemeClr val="tx1">
                    <a:lumMod val="85000"/>
                    <a:lumOff val="15000"/>
                  </a:schemeClr>
                </a:solidFill>
                <a:latin typeface="Times New Roman" pitchFamily="18" charset="0"/>
                <a:cs typeface="Times New Roman" pitchFamily="18" charset="0"/>
              </a:rPr>
              <a:t>Data Collection Module </a:t>
            </a:r>
          </a:p>
          <a:p>
            <a:r>
              <a:rPr lang="en-US" dirty="0">
                <a:latin typeface="Times New Roman" pitchFamily="18" charset="0"/>
                <a:cs typeface="Times New Roman" pitchFamily="18" charset="0"/>
              </a:rPr>
              <a:t>        • Collect </a:t>
            </a:r>
            <a:r>
              <a:rPr lang="en-US" dirty="0" err="1">
                <a:latin typeface="Times New Roman" pitchFamily="18" charset="0"/>
                <a:cs typeface="Times New Roman" pitchFamily="18" charset="0"/>
              </a:rPr>
              <a:t>Blinkit</a:t>
            </a:r>
            <a:r>
              <a:rPr lang="en-US" dirty="0">
                <a:latin typeface="Times New Roman" pitchFamily="18" charset="0"/>
                <a:cs typeface="Times New Roman" pitchFamily="18" charset="0"/>
              </a:rPr>
              <a:t> sales dataset (Excel/CSV)</a:t>
            </a:r>
          </a:p>
          <a:p>
            <a:pPr marL="742950" indent="-742950">
              <a:buAutoNum type="arabicPeriod" startAt="2"/>
            </a:pPr>
            <a:r>
              <a:rPr lang="en-US" b="1" dirty="0">
                <a:solidFill>
                  <a:schemeClr val="tx1">
                    <a:lumMod val="85000"/>
                    <a:lumOff val="15000"/>
                  </a:schemeClr>
                </a:solidFill>
                <a:latin typeface="Times New Roman" pitchFamily="18" charset="0"/>
                <a:cs typeface="Times New Roman" pitchFamily="18" charset="0"/>
              </a:rPr>
              <a:t>Data Preprocessing Module   </a:t>
            </a:r>
          </a:p>
          <a:p>
            <a:r>
              <a:rPr lang="en-US" dirty="0">
                <a:latin typeface="Times New Roman" pitchFamily="18" charset="0"/>
                <a:cs typeface="Times New Roman" pitchFamily="18" charset="0"/>
              </a:rPr>
              <a:t>        • Handle missing values (</a:t>
            </a:r>
            <a:r>
              <a:rPr lang="en-US" dirty="0" err="1">
                <a:latin typeface="Times New Roman" pitchFamily="18" charset="0"/>
                <a:cs typeface="Times New Roman" pitchFamily="18" charset="0"/>
              </a:rPr>
              <a:t>Item_Weight</a:t>
            </a:r>
            <a:r>
              <a:rPr lang="en-US" dirty="0">
                <a:latin typeface="Times New Roman" pitchFamily="18" charset="0"/>
                <a:cs typeface="Times New Roman" pitchFamily="18" charset="0"/>
              </a:rPr>
              <a:t>) , Remove duplicates </a:t>
            </a:r>
          </a:p>
          <a:p>
            <a:r>
              <a:rPr lang="en-US" dirty="0">
                <a:latin typeface="Times New Roman" pitchFamily="18" charset="0"/>
                <a:cs typeface="Times New Roman" pitchFamily="18" charset="0"/>
              </a:rPr>
              <a:t>         Clean categorical data (Fat Content)</a:t>
            </a:r>
          </a:p>
          <a:p>
            <a:r>
              <a:rPr lang="en-IN" b="1" dirty="0">
                <a:solidFill>
                  <a:schemeClr val="tx1">
                    <a:lumMod val="85000"/>
                    <a:lumOff val="15000"/>
                  </a:schemeClr>
                </a:solidFill>
                <a:latin typeface="Times New Roman" pitchFamily="18" charset="0"/>
                <a:cs typeface="Times New Roman" pitchFamily="18" charset="0"/>
              </a:rPr>
              <a:t>3.    Data Transformation Module </a:t>
            </a:r>
          </a:p>
          <a:p>
            <a:r>
              <a:rPr lang="en-IN" dirty="0">
                <a:latin typeface="Times New Roman" pitchFamily="18" charset="0"/>
                <a:cs typeface="Times New Roman" pitchFamily="18" charset="0"/>
              </a:rPr>
              <a:t>        • Convert data types ,Create new features (Outlet Age, etc.)</a:t>
            </a:r>
          </a:p>
          <a:p>
            <a:r>
              <a:rPr lang="en-US" b="1" dirty="0">
                <a:solidFill>
                  <a:schemeClr val="tx1">
                    <a:lumMod val="85000"/>
                    <a:lumOff val="15000"/>
                  </a:schemeClr>
                </a:solidFill>
                <a:latin typeface="Times New Roman" pitchFamily="18" charset="0"/>
                <a:cs typeface="Times New Roman" pitchFamily="18" charset="0"/>
              </a:rPr>
              <a:t>4.    Data Storage Module</a:t>
            </a:r>
            <a:r>
              <a:rPr lang="en-US" b="1" dirty="0">
                <a:latin typeface="Times New Roman" pitchFamily="18" charset="0"/>
                <a:cs typeface="Times New Roman" pitchFamily="18" charset="0"/>
              </a:rPr>
              <a:t>  </a:t>
            </a:r>
          </a:p>
          <a:p>
            <a:r>
              <a:rPr lang="en-US" dirty="0">
                <a:latin typeface="Times New Roman" pitchFamily="18" charset="0"/>
                <a:cs typeface="Times New Roman" pitchFamily="18" charset="0"/>
              </a:rPr>
              <a:t>        • Store cleaned data in MySQL database</a:t>
            </a:r>
            <a:endParaRPr lang="en-IN" dirty="0">
              <a:latin typeface="Times New Roman" pitchFamily="18" charset="0"/>
              <a:cs typeface="Times New Roman" pitchFamily="18" charset="0"/>
            </a:endParaRPr>
          </a:p>
          <a:p>
            <a:r>
              <a:rPr lang="en-US" b="1" dirty="0">
                <a:solidFill>
                  <a:schemeClr val="tx1">
                    <a:lumMod val="85000"/>
                    <a:lumOff val="15000"/>
                  </a:schemeClr>
                </a:solidFill>
                <a:latin typeface="Times New Roman" pitchFamily="18" charset="0"/>
                <a:cs typeface="Times New Roman" pitchFamily="18" charset="0"/>
              </a:rPr>
              <a:t>5.    Data Analysis Module </a:t>
            </a:r>
          </a:p>
          <a:p>
            <a:r>
              <a:rPr lang="en-US" dirty="0">
                <a:latin typeface="Times New Roman" pitchFamily="18" charset="0"/>
                <a:cs typeface="Times New Roman" pitchFamily="18" charset="0"/>
              </a:rPr>
              <a:t>        • Perform aggregation (Sales, Ratings, Items) ,identify trends and patterns</a:t>
            </a:r>
          </a:p>
        </p:txBody>
      </p:sp>
      <p:sp>
        <p:nvSpPr>
          <p:cNvPr id="4" name="object 4">
            <a:extLst>
              <a:ext uri="{FF2B5EF4-FFF2-40B4-BE49-F238E27FC236}">
                <a16:creationId xmlns:a16="http://schemas.microsoft.com/office/drawing/2014/main" id="{A5C03CA8-8C64-4CB0-B028-8D2BF0088AA2}"/>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spTree>
    <p:extLst>
      <p:ext uri="{BB962C8B-B14F-4D97-AF65-F5344CB8AC3E}">
        <p14:creationId xmlns:p14="http://schemas.microsoft.com/office/powerpoint/2010/main" val="246110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7D936-F10A-7276-90DB-3294455132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86A31-32B6-B308-111E-402E1B663165}"/>
              </a:ext>
            </a:extLst>
          </p:cNvPr>
          <p:cNvSpPr>
            <a:spLocks noGrp="1"/>
          </p:cNvSpPr>
          <p:nvPr>
            <p:ph type="title"/>
          </p:nvPr>
        </p:nvSpPr>
        <p:spPr>
          <a:xfrm>
            <a:off x="535321" y="196837"/>
            <a:ext cx="15258499" cy="1354217"/>
          </a:xfrm>
        </p:spPr>
        <p:txBody>
          <a:bodyPr/>
          <a:lstStyle/>
          <a:p>
            <a:br>
              <a:rPr lang="en-US" sz="4400" u="none" dirty="0">
                <a:solidFill>
                  <a:schemeClr val="tx1"/>
                </a:solidFill>
                <a:latin typeface="Times New Roman" panose="02020603050405020304" pitchFamily="18" charset="0"/>
                <a:cs typeface="Times New Roman" panose="02020603050405020304" pitchFamily="18" charset="0"/>
              </a:rPr>
            </a:b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7BB5652-75C5-3BF8-A5F4-2916F1CF7122}"/>
              </a:ext>
            </a:extLst>
          </p:cNvPr>
          <p:cNvSpPr>
            <a:spLocks noGrp="1"/>
          </p:cNvSpPr>
          <p:nvPr>
            <p:ph type="body" idx="1"/>
          </p:nvPr>
        </p:nvSpPr>
        <p:spPr>
          <a:xfrm>
            <a:off x="1447800" y="2109264"/>
            <a:ext cx="15782290" cy="5539978"/>
          </a:xfrm>
        </p:spPr>
        <p:txBody>
          <a:bodyPr/>
          <a:lstStyle/>
          <a:p>
            <a:r>
              <a:rPr lang="en-US" b="1" dirty="0">
                <a:solidFill>
                  <a:schemeClr val="tx1">
                    <a:lumMod val="85000"/>
                    <a:lumOff val="15000"/>
                  </a:schemeClr>
                </a:solidFill>
                <a:latin typeface="+mn-lt"/>
              </a:rPr>
              <a:t>6. </a:t>
            </a:r>
            <a:r>
              <a:rPr lang="en-US" b="1" dirty="0">
                <a:solidFill>
                  <a:schemeClr val="tx1">
                    <a:lumMod val="85000"/>
                    <a:lumOff val="15000"/>
                  </a:schemeClr>
                </a:solidFill>
                <a:latin typeface="Times New Roman" pitchFamily="18" charset="0"/>
                <a:cs typeface="Times New Roman" pitchFamily="18" charset="0"/>
              </a:rPr>
              <a:t>Visualization Module (Power BI)  </a:t>
            </a:r>
          </a:p>
          <a:p>
            <a:r>
              <a:rPr lang="en-US" b="1" dirty="0">
                <a:solidFill>
                  <a:schemeClr val="tx1">
                    <a:lumMod val="85000"/>
                    <a:lumOff val="15000"/>
                  </a:schemeClr>
                </a:solidFill>
                <a:latin typeface="Times New Roman" pitchFamily="18" charset="0"/>
                <a:cs typeface="Times New Roman" pitchFamily="18" charset="0"/>
              </a:rPr>
              <a:t>     </a:t>
            </a:r>
            <a:r>
              <a:rPr lang="en-US" dirty="0">
                <a:solidFill>
                  <a:schemeClr val="tx1">
                    <a:lumMod val="85000"/>
                    <a:lumOff val="15000"/>
                  </a:schemeClr>
                </a:solidFill>
                <a:latin typeface="Times New Roman" pitchFamily="18" charset="0"/>
                <a:cs typeface="Times New Roman" pitchFamily="18" charset="0"/>
              </a:rPr>
              <a:t>• Create interactive dashboard , Charts: Sales, Item Type, Outlet analysis</a:t>
            </a:r>
          </a:p>
          <a:p>
            <a:r>
              <a:rPr lang="en-US" b="1" dirty="0">
                <a:solidFill>
                  <a:schemeClr val="tx1">
                    <a:lumMod val="85000"/>
                    <a:lumOff val="15000"/>
                  </a:schemeClr>
                </a:solidFill>
                <a:latin typeface="Times New Roman" pitchFamily="18" charset="0"/>
                <a:cs typeface="Times New Roman" pitchFamily="18" charset="0"/>
              </a:rPr>
              <a:t>7. Web Dashboard Module (</a:t>
            </a:r>
            <a:r>
              <a:rPr lang="en-US" b="1" dirty="0" err="1">
                <a:solidFill>
                  <a:schemeClr val="tx1">
                    <a:lumMod val="85000"/>
                    <a:lumOff val="15000"/>
                  </a:schemeClr>
                </a:solidFill>
                <a:latin typeface="Times New Roman" pitchFamily="18" charset="0"/>
                <a:cs typeface="Times New Roman" pitchFamily="18" charset="0"/>
              </a:rPr>
              <a:t>Streamlit</a:t>
            </a:r>
            <a:r>
              <a:rPr lang="en-US" b="1" dirty="0">
                <a:solidFill>
                  <a:schemeClr val="tx1">
                    <a:lumMod val="85000"/>
                    <a:lumOff val="15000"/>
                  </a:schemeClr>
                </a:solidFill>
                <a:latin typeface="Times New Roman" pitchFamily="18" charset="0"/>
                <a:cs typeface="Times New Roman" pitchFamily="18" charset="0"/>
              </a:rPr>
              <a:t>) </a:t>
            </a:r>
          </a:p>
          <a:p>
            <a:r>
              <a:rPr lang="en-US" dirty="0">
                <a:solidFill>
                  <a:schemeClr val="tx1">
                    <a:lumMod val="85000"/>
                    <a:lumOff val="15000"/>
                  </a:schemeClr>
                </a:solidFill>
                <a:latin typeface="Times New Roman" pitchFamily="18" charset="0"/>
                <a:cs typeface="Times New Roman" pitchFamily="18" charset="0"/>
              </a:rPr>
              <a:t>     • Build interactive UI with </a:t>
            </a:r>
            <a:r>
              <a:rPr lang="en-US" dirty="0" err="1">
                <a:solidFill>
                  <a:schemeClr val="tx1">
                    <a:lumMod val="85000"/>
                    <a:lumOff val="15000"/>
                  </a:schemeClr>
                </a:solidFill>
                <a:latin typeface="Times New Roman" pitchFamily="18" charset="0"/>
                <a:cs typeface="Times New Roman" pitchFamily="18" charset="0"/>
              </a:rPr>
              <a:t>filters,Display</a:t>
            </a:r>
            <a:r>
              <a:rPr lang="en-US" dirty="0">
                <a:solidFill>
                  <a:schemeClr val="tx1">
                    <a:lumMod val="85000"/>
                    <a:lumOff val="15000"/>
                  </a:schemeClr>
                </a:solidFill>
                <a:latin typeface="Times New Roman" pitchFamily="18" charset="0"/>
                <a:cs typeface="Times New Roman" pitchFamily="18" charset="0"/>
              </a:rPr>
              <a:t> KPIs and charts</a:t>
            </a:r>
          </a:p>
          <a:p>
            <a:r>
              <a:rPr lang="en-US" b="1" dirty="0">
                <a:solidFill>
                  <a:schemeClr val="tx1">
                    <a:lumMod val="85000"/>
                    <a:lumOff val="15000"/>
                  </a:schemeClr>
                </a:solidFill>
                <a:latin typeface="Times New Roman" pitchFamily="18" charset="0"/>
                <a:cs typeface="Times New Roman" pitchFamily="18" charset="0"/>
              </a:rPr>
              <a:t>8. User Interaction Module </a:t>
            </a:r>
          </a:p>
          <a:p>
            <a:r>
              <a:rPr lang="en-US" dirty="0">
                <a:solidFill>
                  <a:schemeClr val="tx1">
                    <a:lumMod val="85000"/>
                    <a:lumOff val="15000"/>
                  </a:schemeClr>
                </a:solidFill>
                <a:latin typeface="Times New Roman" pitchFamily="18" charset="0"/>
                <a:cs typeface="Times New Roman" pitchFamily="18" charset="0"/>
              </a:rPr>
              <a:t>     • Users apply filters and view insights</a:t>
            </a:r>
          </a:p>
          <a:p>
            <a:r>
              <a:rPr lang="en-US" b="1" dirty="0">
                <a:solidFill>
                  <a:schemeClr val="tx1">
                    <a:lumMod val="85000"/>
                    <a:lumOff val="15000"/>
                  </a:schemeClr>
                </a:solidFill>
                <a:latin typeface="Times New Roman" pitchFamily="18" charset="0"/>
                <a:cs typeface="Times New Roman" pitchFamily="18" charset="0"/>
              </a:rPr>
              <a:t>9. Reporting Module  </a:t>
            </a:r>
          </a:p>
          <a:p>
            <a:r>
              <a:rPr lang="en-US" dirty="0">
                <a:solidFill>
                  <a:schemeClr val="tx1">
                    <a:lumMod val="85000"/>
                    <a:lumOff val="15000"/>
                  </a:schemeClr>
                </a:solidFill>
                <a:latin typeface="Times New Roman" pitchFamily="18" charset="0"/>
                <a:cs typeface="Times New Roman" pitchFamily="18" charset="0"/>
              </a:rPr>
              <a:t>     • Generate insights for decision making</a:t>
            </a:r>
          </a:p>
          <a:p>
            <a:r>
              <a:rPr lang="en-US" b="1" dirty="0">
                <a:latin typeface="Times New Roman" pitchFamily="18" charset="0"/>
                <a:cs typeface="Times New Roman" pitchFamily="18" charset="0"/>
              </a:rPr>
              <a:t>10. Deployment Module </a:t>
            </a:r>
          </a:p>
          <a:p>
            <a:r>
              <a:rPr lang="en-US" dirty="0">
                <a:latin typeface="Times New Roman" pitchFamily="18" charset="0"/>
                <a:cs typeface="Times New Roman" pitchFamily="18" charset="0"/>
              </a:rPr>
              <a:t>     • Run </a:t>
            </a:r>
            <a:r>
              <a:rPr lang="en-US" dirty="0" err="1">
                <a:latin typeface="Times New Roman" pitchFamily="18" charset="0"/>
                <a:cs typeface="Times New Roman" pitchFamily="18" charset="0"/>
              </a:rPr>
              <a:t>Streamlit</a:t>
            </a:r>
            <a:r>
              <a:rPr lang="en-US" dirty="0">
                <a:latin typeface="Times New Roman" pitchFamily="18" charset="0"/>
                <a:cs typeface="Times New Roman" pitchFamily="18" charset="0"/>
              </a:rPr>
              <a:t> app locally</a:t>
            </a:r>
          </a:p>
        </p:txBody>
      </p:sp>
      <p:sp>
        <p:nvSpPr>
          <p:cNvPr id="4" name="object 4">
            <a:extLst>
              <a:ext uri="{FF2B5EF4-FFF2-40B4-BE49-F238E27FC236}">
                <a16:creationId xmlns:a16="http://schemas.microsoft.com/office/drawing/2014/main" id="{1177A05D-61E3-3DE1-4115-1D7C37845DF7}"/>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spTree>
    <p:extLst>
      <p:ext uri="{BB962C8B-B14F-4D97-AF65-F5344CB8AC3E}">
        <p14:creationId xmlns:p14="http://schemas.microsoft.com/office/powerpoint/2010/main" val="120532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88D6D-B604-AD26-905A-6212B5BDE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8DC12-CD36-CC43-019F-826143FA161F}"/>
              </a:ext>
            </a:extLst>
          </p:cNvPr>
          <p:cNvSpPr>
            <a:spLocks noGrp="1"/>
          </p:cNvSpPr>
          <p:nvPr>
            <p:ph type="title"/>
          </p:nvPr>
        </p:nvSpPr>
        <p:spPr>
          <a:xfrm>
            <a:off x="533400" y="-190500"/>
            <a:ext cx="15258499" cy="1354217"/>
          </a:xfrm>
        </p:spPr>
        <p:txBody>
          <a:bodyPr/>
          <a:lstStyle/>
          <a:p>
            <a:br>
              <a:rPr lang="en-US" sz="4400" u="none" dirty="0">
                <a:solidFill>
                  <a:schemeClr val="tx1"/>
                </a:solidFill>
                <a:latin typeface="Times New Roman" panose="02020603050405020304" pitchFamily="18" charset="0"/>
                <a:cs typeface="Times New Roman" panose="02020603050405020304" pitchFamily="18" charset="0"/>
              </a:rPr>
            </a:br>
            <a:r>
              <a:rPr lang="en-US" sz="4400" u="none" dirty="0">
                <a:solidFill>
                  <a:schemeClr val="tx1"/>
                </a:solidFill>
                <a:latin typeface="Times New Roman" panose="02020603050405020304" pitchFamily="18" charset="0"/>
                <a:cs typeface="Times New Roman" panose="02020603050405020304" pitchFamily="18" charset="0"/>
              </a:rPr>
              <a:t>                                               DATABASE DESIGN</a:t>
            </a: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4" name="object 4">
            <a:extLst>
              <a:ext uri="{FF2B5EF4-FFF2-40B4-BE49-F238E27FC236}">
                <a16:creationId xmlns:a16="http://schemas.microsoft.com/office/drawing/2014/main" id="{EF1F1B34-E052-C3AC-72CC-40BEDAD449FB}"/>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graphicFrame>
        <p:nvGraphicFramePr>
          <p:cNvPr id="7" name="Table 6"/>
          <p:cNvGraphicFramePr>
            <a:graphicFrameLocks noGrp="1"/>
          </p:cNvGraphicFramePr>
          <p:nvPr>
            <p:extLst>
              <p:ext uri="{D42A27DB-BD31-4B8C-83A1-F6EECF244321}">
                <p14:modId xmlns:p14="http://schemas.microsoft.com/office/powerpoint/2010/main" val="3733350009"/>
              </p:ext>
            </p:extLst>
          </p:nvPr>
        </p:nvGraphicFramePr>
        <p:xfrm>
          <a:off x="914400" y="1714500"/>
          <a:ext cx="5638800" cy="219456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tblGrid>
              <a:tr h="142997">
                <a:tc>
                  <a:txBody>
                    <a:bodyPr/>
                    <a:lstStyle/>
                    <a:p>
                      <a:r>
                        <a:rPr lang="en-IN" dirty="0"/>
                        <a:t>Field Name</a:t>
                      </a:r>
                    </a:p>
                  </a:txBody>
                  <a:tcPr/>
                </a:tc>
                <a:tc>
                  <a:txBody>
                    <a:bodyPr/>
                    <a:lstStyle/>
                    <a:p>
                      <a:r>
                        <a:rPr lang="en-IN" dirty="0"/>
                        <a:t>Description</a:t>
                      </a:r>
                    </a:p>
                  </a:txBody>
                  <a:tcPr/>
                </a:tc>
                <a:extLst>
                  <a:ext uri="{0D108BD9-81ED-4DB2-BD59-A6C34878D82A}">
                    <a16:rowId xmlns:a16="http://schemas.microsoft.com/office/drawing/2014/main" val="10000"/>
                  </a:ext>
                </a:extLst>
              </a:tr>
              <a:tr h="142997">
                <a:tc>
                  <a:txBody>
                    <a:bodyPr/>
                    <a:lstStyle/>
                    <a:p>
                      <a:r>
                        <a:rPr lang="en-IN" dirty="0" err="1"/>
                        <a:t>Item_Identifier</a:t>
                      </a:r>
                      <a:endParaRPr lang="en-IN" dirty="0"/>
                    </a:p>
                  </a:txBody>
                  <a:tcPr anchor="ctr"/>
                </a:tc>
                <a:tc>
                  <a:txBody>
                    <a:bodyPr/>
                    <a:lstStyle/>
                    <a:p>
                      <a:r>
                        <a:rPr lang="en-US" dirty="0"/>
                        <a:t>Unique ID for each product</a:t>
                      </a:r>
                    </a:p>
                  </a:txBody>
                  <a:tcPr anchor="ctr"/>
                </a:tc>
                <a:extLst>
                  <a:ext uri="{0D108BD9-81ED-4DB2-BD59-A6C34878D82A}">
                    <a16:rowId xmlns:a16="http://schemas.microsoft.com/office/drawing/2014/main" val="10001"/>
                  </a:ext>
                </a:extLst>
              </a:tr>
              <a:tr h="142997">
                <a:tc>
                  <a:txBody>
                    <a:bodyPr/>
                    <a:lstStyle/>
                    <a:p>
                      <a:r>
                        <a:rPr lang="en-IN" dirty="0" err="1"/>
                        <a:t>Item_Type</a:t>
                      </a:r>
                      <a:endParaRPr lang="en-IN" dirty="0"/>
                    </a:p>
                  </a:txBody>
                  <a:tcPr anchor="ctr"/>
                </a:tc>
                <a:tc>
                  <a:txBody>
                    <a:bodyPr/>
                    <a:lstStyle/>
                    <a:p>
                      <a:r>
                        <a:rPr lang="en-IN" dirty="0"/>
                        <a:t>Product category</a:t>
                      </a:r>
                    </a:p>
                  </a:txBody>
                  <a:tcPr anchor="ctr"/>
                </a:tc>
                <a:extLst>
                  <a:ext uri="{0D108BD9-81ED-4DB2-BD59-A6C34878D82A}">
                    <a16:rowId xmlns:a16="http://schemas.microsoft.com/office/drawing/2014/main" val="10002"/>
                  </a:ext>
                </a:extLst>
              </a:tr>
              <a:tr h="142997">
                <a:tc>
                  <a:txBody>
                    <a:bodyPr/>
                    <a:lstStyle/>
                    <a:p>
                      <a:r>
                        <a:rPr lang="en-IN" dirty="0" err="1"/>
                        <a:t>Item_Fat_Content</a:t>
                      </a:r>
                      <a:endParaRPr lang="en-IN" dirty="0"/>
                    </a:p>
                  </a:txBody>
                  <a:tcPr/>
                </a:tc>
                <a:tc>
                  <a:txBody>
                    <a:bodyPr/>
                    <a:lstStyle/>
                    <a:p>
                      <a:r>
                        <a:rPr lang="en-IN" dirty="0"/>
                        <a:t>Fat content of product</a:t>
                      </a:r>
                    </a:p>
                  </a:txBody>
                  <a:tcPr/>
                </a:tc>
                <a:extLst>
                  <a:ext uri="{0D108BD9-81ED-4DB2-BD59-A6C34878D82A}">
                    <a16:rowId xmlns:a16="http://schemas.microsoft.com/office/drawing/2014/main" val="10003"/>
                  </a:ext>
                </a:extLst>
              </a:tr>
              <a:tr h="142997">
                <a:tc>
                  <a:txBody>
                    <a:bodyPr/>
                    <a:lstStyle/>
                    <a:p>
                      <a:r>
                        <a:rPr lang="en-IN" dirty="0" err="1"/>
                        <a:t>Item_Weight</a:t>
                      </a:r>
                      <a:endParaRPr lang="en-IN" dirty="0"/>
                    </a:p>
                  </a:txBody>
                  <a:tcPr/>
                </a:tc>
                <a:tc>
                  <a:txBody>
                    <a:bodyPr/>
                    <a:lstStyle/>
                    <a:p>
                      <a:r>
                        <a:rPr lang="en-IN" dirty="0"/>
                        <a:t>Weight of product</a:t>
                      </a:r>
                    </a:p>
                  </a:txBody>
                  <a:tcPr/>
                </a:tc>
                <a:extLst>
                  <a:ext uri="{0D108BD9-81ED-4DB2-BD59-A6C34878D82A}">
                    <a16:rowId xmlns:a16="http://schemas.microsoft.com/office/drawing/2014/main" val="10004"/>
                  </a:ext>
                </a:extLst>
              </a:tr>
              <a:tr h="142997">
                <a:tc>
                  <a:txBody>
                    <a:bodyPr/>
                    <a:lstStyle/>
                    <a:p>
                      <a:r>
                        <a:rPr lang="en-IN" dirty="0" err="1"/>
                        <a:t>Item_MRP</a:t>
                      </a:r>
                      <a:endParaRPr lang="en-IN" dirty="0"/>
                    </a:p>
                  </a:txBody>
                  <a:tcPr/>
                </a:tc>
                <a:tc>
                  <a:txBody>
                    <a:bodyPr/>
                    <a:lstStyle/>
                    <a:p>
                      <a:r>
                        <a:rPr lang="en-IN" dirty="0"/>
                        <a:t>Maximum retail price</a:t>
                      </a:r>
                    </a:p>
                  </a:txBody>
                  <a:tcPr/>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835944498"/>
              </p:ext>
            </p:extLst>
          </p:nvPr>
        </p:nvGraphicFramePr>
        <p:xfrm>
          <a:off x="914400" y="4762500"/>
          <a:ext cx="5791200" cy="219456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tblGrid>
              <a:tr h="118110">
                <a:tc>
                  <a:txBody>
                    <a:bodyPr/>
                    <a:lstStyle/>
                    <a:p>
                      <a:r>
                        <a:rPr lang="en-IN" dirty="0"/>
                        <a:t>Field Name</a:t>
                      </a:r>
                    </a:p>
                  </a:txBody>
                  <a:tcPr/>
                </a:tc>
                <a:tc>
                  <a:txBody>
                    <a:bodyPr/>
                    <a:lstStyle/>
                    <a:p>
                      <a:r>
                        <a:rPr lang="en-IN" dirty="0"/>
                        <a:t>Description</a:t>
                      </a:r>
                    </a:p>
                  </a:txBody>
                  <a:tcPr/>
                </a:tc>
                <a:extLst>
                  <a:ext uri="{0D108BD9-81ED-4DB2-BD59-A6C34878D82A}">
                    <a16:rowId xmlns:a16="http://schemas.microsoft.com/office/drawing/2014/main" val="10000"/>
                  </a:ext>
                </a:extLst>
              </a:tr>
              <a:tr h="142997">
                <a:tc>
                  <a:txBody>
                    <a:bodyPr/>
                    <a:lstStyle/>
                    <a:p>
                      <a:r>
                        <a:rPr lang="en-IN" dirty="0" err="1"/>
                        <a:t>Outlet_Identifier</a:t>
                      </a:r>
                      <a:endParaRPr lang="en-IN" dirty="0"/>
                    </a:p>
                  </a:txBody>
                  <a:tcPr anchor="ctr"/>
                </a:tc>
                <a:tc>
                  <a:txBody>
                    <a:bodyPr/>
                    <a:lstStyle/>
                    <a:p>
                      <a:r>
                        <a:rPr lang="en-IN" dirty="0"/>
                        <a:t>Unique outlet ID</a:t>
                      </a:r>
                    </a:p>
                  </a:txBody>
                  <a:tcPr anchor="ctr"/>
                </a:tc>
                <a:extLst>
                  <a:ext uri="{0D108BD9-81ED-4DB2-BD59-A6C34878D82A}">
                    <a16:rowId xmlns:a16="http://schemas.microsoft.com/office/drawing/2014/main" val="10001"/>
                  </a:ext>
                </a:extLst>
              </a:tr>
              <a:tr h="142997">
                <a:tc>
                  <a:txBody>
                    <a:bodyPr/>
                    <a:lstStyle/>
                    <a:p>
                      <a:r>
                        <a:rPr lang="en-IN" dirty="0" err="1"/>
                        <a:t>Outlet_Size</a:t>
                      </a:r>
                      <a:endParaRPr lang="en-IN" dirty="0"/>
                    </a:p>
                  </a:txBody>
                  <a:tcPr/>
                </a:tc>
                <a:tc>
                  <a:txBody>
                    <a:bodyPr/>
                    <a:lstStyle/>
                    <a:p>
                      <a:r>
                        <a:rPr lang="en-IN" dirty="0"/>
                        <a:t>Size of outlet</a:t>
                      </a:r>
                    </a:p>
                  </a:txBody>
                  <a:tcPr/>
                </a:tc>
                <a:extLst>
                  <a:ext uri="{0D108BD9-81ED-4DB2-BD59-A6C34878D82A}">
                    <a16:rowId xmlns:a16="http://schemas.microsoft.com/office/drawing/2014/main" val="10002"/>
                  </a:ext>
                </a:extLst>
              </a:tr>
              <a:tr h="142997">
                <a:tc>
                  <a:txBody>
                    <a:bodyPr/>
                    <a:lstStyle/>
                    <a:p>
                      <a:r>
                        <a:rPr lang="en-IN" dirty="0" err="1"/>
                        <a:t>Outlet_Location_Type</a:t>
                      </a:r>
                      <a:endParaRPr lang="en-IN" dirty="0"/>
                    </a:p>
                  </a:txBody>
                  <a:tcPr/>
                </a:tc>
                <a:tc>
                  <a:txBody>
                    <a:bodyPr/>
                    <a:lstStyle/>
                    <a:p>
                      <a:r>
                        <a:rPr lang="en-IN" dirty="0"/>
                        <a:t>Outlet location category</a:t>
                      </a:r>
                    </a:p>
                  </a:txBody>
                  <a:tcPr/>
                </a:tc>
                <a:extLst>
                  <a:ext uri="{0D108BD9-81ED-4DB2-BD59-A6C34878D82A}">
                    <a16:rowId xmlns:a16="http://schemas.microsoft.com/office/drawing/2014/main" val="10003"/>
                  </a:ext>
                </a:extLst>
              </a:tr>
              <a:tr h="141039">
                <a:tc>
                  <a:txBody>
                    <a:bodyPr/>
                    <a:lstStyle/>
                    <a:p>
                      <a:r>
                        <a:rPr lang="en-IN" dirty="0" err="1"/>
                        <a:t>Outlet_Type</a:t>
                      </a:r>
                      <a:endParaRPr lang="en-IN" dirty="0"/>
                    </a:p>
                  </a:txBody>
                  <a:tcPr/>
                </a:tc>
                <a:tc>
                  <a:txBody>
                    <a:bodyPr/>
                    <a:lstStyle/>
                    <a:p>
                      <a:r>
                        <a:rPr lang="en-IN" dirty="0"/>
                        <a:t>Type of outlet</a:t>
                      </a:r>
                    </a:p>
                  </a:txBody>
                  <a:tcPr/>
                </a:tc>
                <a:extLst>
                  <a:ext uri="{0D108BD9-81ED-4DB2-BD59-A6C34878D82A}">
                    <a16:rowId xmlns:a16="http://schemas.microsoft.com/office/drawing/2014/main" val="10004"/>
                  </a:ext>
                </a:extLst>
              </a:tr>
              <a:tr h="142997">
                <a:tc>
                  <a:txBody>
                    <a:bodyPr/>
                    <a:lstStyle/>
                    <a:p>
                      <a:r>
                        <a:rPr lang="en-IN" dirty="0" err="1"/>
                        <a:t>Outlet_Establishment_Year</a:t>
                      </a:r>
                      <a:endParaRPr lang="en-IN" dirty="0"/>
                    </a:p>
                  </a:txBody>
                  <a:tcPr/>
                </a:tc>
                <a:tc>
                  <a:txBody>
                    <a:bodyPr/>
                    <a:lstStyle/>
                    <a:p>
                      <a:r>
                        <a:rPr lang="en-IN" dirty="0"/>
                        <a:t>Outlet establishment year</a:t>
                      </a:r>
                    </a:p>
                  </a:txBody>
                  <a:tcPr/>
                </a:tc>
                <a:extLst>
                  <a:ext uri="{0D108BD9-81ED-4DB2-BD59-A6C34878D82A}">
                    <a16:rowId xmlns:a16="http://schemas.microsoft.com/office/drawing/2014/main" val="10005"/>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641154664"/>
              </p:ext>
            </p:extLst>
          </p:nvPr>
        </p:nvGraphicFramePr>
        <p:xfrm>
          <a:off x="990601" y="7658100"/>
          <a:ext cx="5715000" cy="1463040"/>
        </p:xfrm>
        <a:graphic>
          <a:graphicData uri="http://schemas.openxmlformats.org/drawingml/2006/table">
            <a:tbl>
              <a:tblPr firstRow="1" bandRow="1">
                <a:tableStyleId>{5C22544A-7EE6-4342-B048-85BDC9FD1C3A}</a:tableStyleId>
              </a:tblPr>
              <a:tblGrid>
                <a:gridCol w="2968832">
                  <a:extLst>
                    <a:ext uri="{9D8B030D-6E8A-4147-A177-3AD203B41FA5}">
                      <a16:colId xmlns:a16="http://schemas.microsoft.com/office/drawing/2014/main" val="20000"/>
                    </a:ext>
                  </a:extLst>
                </a:gridCol>
                <a:gridCol w="2746168">
                  <a:extLst>
                    <a:ext uri="{9D8B030D-6E8A-4147-A177-3AD203B41FA5}">
                      <a16:colId xmlns:a16="http://schemas.microsoft.com/office/drawing/2014/main" val="20001"/>
                    </a:ext>
                  </a:extLst>
                </a:gridCol>
              </a:tblGrid>
              <a:tr h="289560">
                <a:tc>
                  <a:txBody>
                    <a:bodyPr/>
                    <a:lstStyle/>
                    <a:p>
                      <a:r>
                        <a:rPr lang="en-IN" dirty="0"/>
                        <a:t>Field Name</a:t>
                      </a:r>
                    </a:p>
                  </a:txBody>
                  <a:tcPr/>
                </a:tc>
                <a:tc>
                  <a:txBody>
                    <a:bodyPr/>
                    <a:lstStyle/>
                    <a:p>
                      <a:r>
                        <a:rPr lang="en-IN" dirty="0"/>
                        <a:t>Description</a:t>
                      </a:r>
                    </a:p>
                  </a:txBody>
                  <a:tcPr/>
                </a:tc>
                <a:extLst>
                  <a:ext uri="{0D108BD9-81ED-4DB2-BD59-A6C34878D82A}">
                    <a16:rowId xmlns:a16="http://schemas.microsoft.com/office/drawing/2014/main" val="10000"/>
                  </a:ext>
                </a:extLst>
              </a:tr>
              <a:tr h="142997">
                <a:tc>
                  <a:txBody>
                    <a:bodyPr/>
                    <a:lstStyle/>
                    <a:p>
                      <a:r>
                        <a:rPr lang="en-IN" dirty="0" err="1"/>
                        <a:t>Item_Identifier</a:t>
                      </a:r>
                      <a:endParaRPr lang="en-IN" dirty="0"/>
                    </a:p>
                  </a:txBody>
                  <a:tcPr/>
                </a:tc>
                <a:tc>
                  <a:txBody>
                    <a:bodyPr/>
                    <a:lstStyle/>
                    <a:p>
                      <a:r>
                        <a:rPr lang="en-IN" dirty="0"/>
                        <a:t>Product ID</a:t>
                      </a:r>
                    </a:p>
                  </a:txBody>
                  <a:tcPr/>
                </a:tc>
                <a:extLst>
                  <a:ext uri="{0D108BD9-81ED-4DB2-BD59-A6C34878D82A}">
                    <a16:rowId xmlns:a16="http://schemas.microsoft.com/office/drawing/2014/main" val="10001"/>
                  </a:ext>
                </a:extLst>
              </a:tr>
              <a:tr h="142997">
                <a:tc>
                  <a:txBody>
                    <a:bodyPr/>
                    <a:lstStyle/>
                    <a:p>
                      <a:r>
                        <a:rPr lang="en-IN" dirty="0" err="1"/>
                        <a:t>Outlet_Identifier</a:t>
                      </a:r>
                      <a:endParaRPr lang="en-IN" dirty="0"/>
                    </a:p>
                  </a:txBody>
                  <a:tcPr/>
                </a:tc>
                <a:tc>
                  <a:txBody>
                    <a:bodyPr/>
                    <a:lstStyle/>
                    <a:p>
                      <a:r>
                        <a:rPr lang="en-IN" dirty="0"/>
                        <a:t>Outlet ID</a:t>
                      </a:r>
                    </a:p>
                  </a:txBody>
                  <a:tcPr/>
                </a:tc>
                <a:extLst>
                  <a:ext uri="{0D108BD9-81ED-4DB2-BD59-A6C34878D82A}">
                    <a16:rowId xmlns:a16="http://schemas.microsoft.com/office/drawing/2014/main" val="10002"/>
                  </a:ext>
                </a:extLst>
              </a:tr>
              <a:tr h="142997">
                <a:tc>
                  <a:txBody>
                    <a:bodyPr/>
                    <a:lstStyle/>
                    <a:p>
                      <a:r>
                        <a:rPr lang="en-IN" dirty="0" err="1"/>
                        <a:t>Item_Outlet_Sales</a:t>
                      </a:r>
                      <a:endParaRPr lang="en-IN" dirty="0"/>
                    </a:p>
                  </a:txBody>
                  <a:tcPr/>
                </a:tc>
                <a:tc>
                  <a:txBody>
                    <a:bodyPr/>
                    <a:lstStyle/>
                    <a:p>
                      <a:r>
                        <a:rPr lang="en-IN" dirty="0"/>
                        <a:t>Sales amount</a:t>
                      </a:r>
                    </a:p>
                  </a:txBody>
                  <a:tcPr/>
                </a:tc>
                <a:extLst>
                  <a:ext uri="{0D108BD9-81ED-4DB2-BD59-A6C34878D82A}">
                    <a16:rowId xmlns:a16="http://schemas.microsoft.com/office/drawing/2014/main" val="10003"/>
                  </a:ext>
                </a:extLst>
              </a:tr>
            </a:tbl>
          </a:graphicData>
        </a:graphic>
      </p:graphicFrame>
      <p:sp>
        <p:nvSpPr>
          <p:cNvPr id="13" name="Rectangle 12"/>
          <p:cNvSpPr/>
          <p:nvPr/>
        </p:nvSpPr>
        <p:spPr>
          <a:xfrm>
            <a:off x="2819400" y="1257300"/>
            <a:ext cx="1749197" cy="461665"/>
          </a:xfrm>
          <a:prstGeom prst="rect">
            <a:avLst/>
          </a:prstGeom>
        </p:spPr>
        <p:txBody>
          <a:bodyPr wrap="none">
            <a:spAutoFit/>
          </a:bodyPr>
          <a:lstStyle/>
          <a:p>
            <a:r>
              <a:rPr lang="en-IN" sz="2400" b="1" dirty="0">
                <a:latin typeface="Times New Roman" pitchFamily="18" charset="0"/>
                <a:cs typeface="Times New Roman" pitchFamily="18" charset="0"/>
              </a:rPr>
              <a:t>Items Table</a:t>
            </a:r>
          </a:p>
        </p:txBody>
      </p:sp>
      <p:sp>
        <p:nvSpPr>
          <p:cNvPr id="14" name="Rectangle 13"/>
          <p:cNvSpPr/>
          <p:nvPr/>
        </p:nvSpPr>
        <p:spPr>
          <a:xfrm>
            <a:off x="2854842" y="4305300"/>
            <a:ext cx="1850186" cy="461665"/>
          </a:xfrm>
          <a:prstGeom prst="rect">
            <a:avLst/>
          </a:prstGeom>
        </p:spPr>
        <p:txBody>
          <a:bodyPr wrap="none">
            <a:spAutoFit/>
          </a:bodyPr>
          <a:lstStyle/>
          <a:p>
            <a:r>
              <a:rPr lang="en-IN" sz="2400" b="1" dirty="0">
                <a:latin typeface="Times New Roman" pitchFamily="18" charset="0"/>
                <a:cs typeface="Times New Roman" pitchFamily="18" charset="0"/>
              </a:rPr>
              <a:t>Outlet Table</a:t>
            </a:r>
          </a:p>
        </p:txBody>
      </p:sp>
      <p:sp>
        <p:nvSpPr>
          <p:cNvPr id="15" name="Rectangle 14"/>
          <p:cNvSpPr/>
          <p:nvPr/>
        </p:nvSpPr>
        <p:spPr>
          <a:xfrm>
            <a:off x="3048000" y="7200900"/>
            <a:ext cx="1680268" cy="461665"/>
          </a:xfrm>
          <a:prstGeom prst="rect">
            <a:avLst/>
          </a:prstGeom>
        </p:spPr>
        <p:txBody>
          <a:bodyPr wrap="none">
            <a:spAutoFit/>
          </a:bodyPr>
          <a:lstStyle/>
          <a:p>
            <a:r>
              <a:rPr lang="en-IN" sz="2400" b="1" dirty="0">
                <a:latin typeface="Times New Roman" pitchFamily="18" charset="0"/>
                <a:cs typeface="Times New Roman" pitchFamily="18" charset="0"/>
              </a:rPr>
              <a:t>Sales Table</a:t>
            </a:r>
          </a:p>
        </p:txBody>
      </p:sp>
    </p:spTree>
    <p:extLst>
      <p:ext uri="{BB962C8B-B14F-4D97-AF65-F5344CB8AC3E}">
        <p14:creationId xmlns:p14="http://schemas.microsoft.com/office/powerpoint/2010/main" val="2728001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88D6D-B604-AD26-905A-6212B5BDE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8DC12-CD36-CC43-019F-826143FA161F}"/>
              </a:ext>
            </a:extLst>
          </p:cNvPr>
          <p:cNvSpPr>
            <a:spLocks noGrp="1"/>
          </p:cNvSpPr>
          <p:nvPr>
            <p:ph type="title"/>
          </p:nvPr>
        </p:nvSpPr>
        <p:spPr>
          <a:xfrm>
            <a:off x="838200" y="2933700"/>
            <a:ext cx="15258499" cy="1354217"/>
          </a:xfrm>
        </p:spPr>
        <p:txBody>
          <a:bodyPr/>
          <a:lstStyle/>
          <a:p>
            <a:br>
              <a:rPr lang="en-US" sz="4400" u="none" dirty="0">
                <a:solidFill>
                  <a:schemeClr val="tx1"/>
                </a:solidFill>
                <a:latin typeface="Times New Roman" panose="02020603050405020304" pitchFamily="18" charset="0"/>
                <a:cs typeface="Times New Roman" panose="02020603050405020304" pitchFamily="18" charset="0"/>
              </a:rPr>
            </a:br>
            <a:r>
              <a:rPr lang="en-US" sz="4400" u="none" dirty="0">
                <a:solidFill>
                  <a:schemeClr val="tx1"/>
                </a:solidFill>
                <a:latin typeface="Times New Roman" panose="02020603050405020304" pitchFamily="18" charset="0"/>
                <a:cs typeface="Times New Roman" panose="02020603050405020304" pitchFamily="18" charset="0"/>
              </a:rPr>
              <a:t>                                       </a:t>
            </a: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4" name="object 4">
            <a:extLst>
              <a:ext uri="{FF2B5EF4-FFF2-40B4-BE49-F238E27FC236}">
                <a16:creationId xmlns:a16="http://schemas.microsoft.com/office/drawing/2014/main" id="{EF1F1B34-E052-C3AC-72CC-40BEDAD449FB}"/>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sp>
        <p:nvSpPr>
          <p:cNvPr id="5" name="Rectangle 2"/>
          <p:cNvSpPr>
            <a:spLocks noChangeArrowheads="1"/>
          </p:cNvSpPr>
          <p:nvPr/>
        </p:nvSpPr>
        <p:spPr bwMode="auto">
          <a:xfrm>
            <a:off x="1066800" y="1647230"/>
            <a:ext cx="14782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4400" b="1" i="0" u="none" strike="noStrike" cap="none" normalizeH="0" baseline="0" dirty="0">
                <a:ln>
                  <a:noFill/>
                </a:ln>
                <a:solidFill>
                  <a:schemeClr val="tx1"/>
                </a:solidFill>
                <a:effectLst/>
                <a:latin typeface="Times New Roman" pitchFamily="18" charset="0"/>
                <a:cs typeface="Times New Roman" pitchFamily="18" charset="0"/>
              </a:rPr>
              <a:t>                          RELATIONSHIP BETWEEN TABLES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200"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4000" b="0" i="0" u="none" strike="noStrike" cap="none" normalizeH="0" baseline="0" dirty="0">
                <a:ln>
                  <a:noFill/>
                </a:ln>
                <a:solidFill>
                  <a:schemeClr val="tx1"/>
                </a:solidFill>
                <a:effectLst/>
                <a:latin typeface="Times New Roman" pitchFamily="18" charset="0"/>
                <a:cs typeface="Times New Roman" pitchFamily="18" charset="0"/>
              </a:rPr>
              <a:t> Items table is connected with Sales table using </a:t>
            </a:r>
            <a:r>
              <a:rPr kumimoji="0" lang="en-US" sz="4000" b="0" i="0" u="none" strike="noStrike" cap="none" normalizeH="0" baseline="0" dirty="0" err="1">
                <a:ln>
                  <a:noFill/>
                </a:ln>
                <a:solidFill>
                  <a:schemeClr val="tx1"/>
                </a:solidFill>
                <a:effectLst/>
                <a:latin typeface="Times New Roman" pitchFamily="18" charset="0"/>
                <a:cs typeface="Times New Roman" pitchFamily="18" charset="0"/>
              </a:rPr>
              <a:t>Item_Identifier</a:t>
            </a:r>
            <a:r>
              <a:rPr kumimoji="0" lang="en-US" sz="4000" b="0" i="0" u="none" strike="noStrike" cap="none" normalizeH="0" baseline="0" dirty="0">
                <a:ln>
                  <a:noFill/>
                </a:ln>
                <a:solidFill>
                  <a:schemeClr val="tx1"/>
                </a:solidFill>
                <a:effectLst/>
                <a:latin typeface="Times New Roman" pitchFamily="18" charset="0"/>
                <a:cs typeface="Times New Roman"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4000" b="0" i="0" u="none" strike="noStrike" cap="none" normalizeH="0" baseline="0" dirty="0">
                <a:ln>
                  <a:noFill/>
                </a:ln>
                <a:solidFill>
                  <a:schemeClr val="tx1"/>
                </a:solidFill>
                <a:effectLst/>
                <a:latin typeface="Times New Roman" pitchFamily="18" charset="0"/>
                <a:cs typeface="Times New Roman" pitchFamily="18" charset="0"/>
              </a:rPr>
              <a:t> Outlet table is connected with Sales table using </a:t>
            </a:r>
            <a:r>
              <a:rPr kumimoji="0" lang="en-US" sz="4000" b="0" i="0" u="none" strike="noStrike" cap="none" normalizeH="0" baseline="0" dirty="0" err="1">
                <a:ln>
                  <a:noFill/>
                </a:ln>
                <a:solidFill>
                  <a:schemeClr val="tx1"/>
                </a:solidFill>
                <a:effectLst/>
                <a:latin typeface="Times New Roman" pitchFamily="18" charset="0"/>
                <a:cs typeface="Times New Roman" pitchFamily="18" charset="0"/>
              </a:rPr>
              <a:t>Outlet_Identifier</a:t>
            </a:r>
            <a:r>
              <a:rPr kumimoji="0" lang="en-US" sz="4000" b="0" i="0" u="none" strike="noStrike" cap="none" normalizeH="0" baseline="0" dirty="0">
                <a:ln>
                  <a:noFill/>
                </a:ln>
                <a:solidFill>
                  <a:schemeClr val="tx1"/>
                </a:solidFill>
                <a:effectLst/>
                <a:latin typeface="Times New Roman" pitchFamily="18" charset="0"/>
                <a:cs typeface="Times New Roman"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4000" b="0" i="0" u="none" strike="noStrike" cap="none" normalizeH="0" baseline="0" dirty="0">
                <a:ln>
                  <a:noFill/>
                </a:ln>
                <a:solidFill>
                  <a:schemeClr val="tx1"/>
                </a:solidFill>
                <a:effectLst/>
                <a:latin typeface="Times New Roman" pitchFamily="18" charset="0"/>
                <a:cs typeface="Times New Roman" pitchFamily="18" charset="0"/>
              </a:rPr>
              <a:t> Sales table stores transaction and sales details for products sold in different outlets.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1325173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88D6D-B604-AD26-905A-6212B5BDE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8DC12-CD36-CC43-019F-826143FA161F}"/>
              </a:ext>
            </a:extLst>
          </p:cNvPr>
          <p:cNvSpPr>
            <a:spLocks noGrp="1"/>
          </p:cNvSpPr>
          <p:nvPr>
            <p:ph type="title"/>
          </p:nvPr>
        </p:nvSpPr>
        <p:spPr>
          <a:xfrm>
            <a:off x="838200" y="2933700"/>
            <a:ext cx="15258499" cy="1354217"/>
          </a:xfrm>
        </p:spPr>
        <p:txBody>
          <a:bodyPr/>
          <a:lstStyle/>
          <a:p>
            <a:br>
              <a:rPr lang="en-US" sz="4400" u="none" dirty="0">
                <a:solidFill>
                  <a:schemeClr val="tx1"/>
                </a:solidFill>
                <a:latin typeface="Times New Roman" panose="02020603050405020304" pitchFamily="18" charset="0"/>
                <a:cs typeface="Times New Roman" panose="02020603050405020304" pitchFamily="18" charset="0"/>
              </a:rPr>
            </a:br>
            <a:r>
              <a:rPr lang="en-US" sz="4400" u="none" dirty="0">
                <a:solidFill>
                  <a:schemeClr val="tx1"/>
                </a:solidFill>
                <a:latin typeface="Times New Roman" panose="02020603050405020304" pitchFamily="18" charset="0"/>
                <a:cs typeface="Times New Roman" panose="02020603050405020304" pitchFamily="18" charset="0"/>
              </a:rPr>
              <a:t>                                       </a:t>
            </a: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4" name="object 4">
            <a:extLst>
              <a:ext uri="{FF2B5EF4-FFF2-40B4-BE49-F238E27FC236}">
                <a16:creationId xmlns:a16="http://schemas.microsoft.com/office/drawing/2014/main" id="{EF1F1B34-E052-C3AC-72CC-40BEDAD449FB}"/>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sp>
        <p:nvSpPr>
          <p:cNvPr id="3" name="AutoShape 2" descr="ER diagram for Blinkit sales analytic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952500"/>
            <a:ext cx="13944600" cy="815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0206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BB9B7-F77B-E316-F487-19EA61DA0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C3499C-F765-1B58-7882-E53335499900}"/>
              </a:ext>
            </a:extLst>
          </p:cNvPr>
          <p:cNvSpPr>
            <a:spLocks noGrp="1"/>
          </p:cNvSpPr>
          <p:nvPr>
            <p:ph type="title"/>
          </p:nvPr>
        </p:nvSpPr>
        <p:spPr>
          <a:xfrm>
            <a:off x="535321" y="196837"/>
            <a:ext cx="15258499" cy="1354217"/>
          </a:xfrm>
        </p:spPr>
        <p:txBody>
          <a:bodyPr/>
          <a:lstStyle/>
          <a:p>
            <a:br>
              <a:rPr lang="en-US" sz="4400" u="none" dirty="0">
                <a:solidFill>
                  <a:schemeClr val="tx1"/>
                </a:solidFill>
                <a:latin typeface="Times New Roman" panose="02020603050405020304" pitchFamily="18" charset="0"/>
                <a:cs typeface="Times New Roman" panose="02020603050405020304" pitchFamily="18" charset="0"/>
              </a:rPr>
            </a:br>
            <a:r>
              <a:rPr lang="en-US" sz="4400" u="none" dirty="0">
                <a:solidFill>
                  <a:schemeClr val="tx1"/>
                </a:solidFill>
                <a:latin typeface="Times New Roman" panose="02020603050405020304" pitchFamily="18" charset="0"/>
                <a:cs typeface="Times New Roman" panose="02020603050405020304" pitchFamily="18" charset="0"/>
              </a:rPr>
              <a:t>                                           EXPECTED OUTCOMES</a:t>
            </a: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E99DD38-A58F-2BB1-B7FC-61E3E9AFCB23}"/>
              </a:ext>
            </a:extLst>
          </p:cNvPr>
          <p:cNvSpPr>
            <a:spLocks noGrp="1"/>
          </p:cNvSpPr>
          <p:nvPr>
            <p:ph type="body" idx="1"/>
          </p:nvPr>
        </p:nvSpPr>
        <p:spPr>
          <a:xfrm>
            <a:off x="1600200" y="2663262"/>
            <a:ext cx="15782290" cy="4886402"/>
          </a:xfrm>
        </p:spPr>
        <p:txBody>
          <a:bodyPr/>
          <a:lstStyle/>
          <a:p>
            <a:pPr marL="571500" indent="-571500">
              <a:lnSpc>
                <a:spcPct val="150000"/>
              </a:lnSpc>
              <a:buFont typeface="Arial" pitchFamily="34" charset="0"/>
              <a:buChar char="•"/>
            </a:pPr>
            <a:r>
              <a:rPr lang="en-US" dirty="0">
                <a:latin typeface="Times New Roman" pitchFamily="18" charset="0"/>
                <a:cs typeface="Times New Roman" pitchFamily="18" charset="0"/>
              </a:rPr>
              <a:t>Improved business analysis </a:t>
            </a:r>
          </a:p>
          <a:p>
            <a:pPr marL="571500" indent="-571500">
              <a:lnSpc>
                <a:spcPct val="150000"/>
              </a:lnSpc>
              <a:buFont typeface="Arial" pitchFamily="34" charset="0"/>
              <a:buChar char="•"/>
            </a:pPr>
            <a:r>
              <a:rPr lang="en-US" dirty="0">
                <a:latin typeface="Times New Roman" pitchFamily="18" charset="0"/>
                <a:cs typeface="Times New Roman" pitchFamily="18" charset="0"/>
              </a:rPr>
              <a:t>Faster sales reporting </a:t>
            </a:r>
          </a:p>
          <a:p>
            <a:pPr marL="571500" indent="-571500">
              <a:lnSpc>
                <a:spcPct val="150000"/>
              </a:lnSpc>
              <a:buFont typeface="Arial" pitchFamily="34" charset="0"/>
              <a:buChar char="•"/>
            </a:pPr>
            <a:r>
              <a:rPr lang="en-US" dirty="0">
                <a:latin typeface="Times New Roman" pitchFamily="18" charset="0"/>
                <a:cs typeface="Times New Roman" pitchFamily="18" charset="0"/>
              </a:rPr>
              <a:t>Better visualization of data </a:t>
            </a:r>
          </a:p>
          <a:p>
            <a:pPr marL="571500" indent="-571500">
              <a:lnSpc>
                <a:spcPct val="150000"/>
              </a:lnSpc>
              <a:buFont typeface="Arial" pitchFamily="34" charset="0"/>
              <a:buChar char="•"/>
            </a:pPr>
            <a:r>
              <a:rPr lang="en-US" dirty="0">
                <a:latin typeface="Times New Roman" pitchFamily="18" charset="0"/>
                <a:cs typeface="Times New Roman" pitchFamily="18" charset="0"/>
              </a:rPr>
              <a:t>Reduced manual effort </a:t>
            </a:r>
          </a:p>
          <a:p>
            <a:pPr marL="571500" indent="-571500">
              <a:lnSpc>
                <a:spcPct val="150000"/>
              </a:lnSpc>
              <a:buFont typeface="Arial" pitchFamily="34" charset="0"/>
              <a:buChar char="•"/>
            </a:pPr>
            <a:r>
              <a:rPr lang="en-US" dirty="0">
                <a:latin typeface="Times New Roman" pitchFamily="18" charset="0"/>
                <a:cs typeface="Times New Roman" pitchFamily="18" charset="0"/>
              </a:rPr>
              <a:t>Accurate identification of top-performing products and outlets </a:t>
            </a:r>
          </a:p>
          <a:p>
            <a:pPr marL="571500" indent="-571500">
              <a:lnSpc>
                <a:spcPct val="150000"/>
              </a:lnSpc>
              <a:buFont typeface="Arial" pitchFamily="34" charset="0"/>
              <a:buChar char="•"/>
            </a:pPr>
            <a:r>
              <a:rPr lang="en-US" dirty="0">
                <a:latin typeface="Times New Roman" pitchFamily="18" charset="0"/>
                <a:cs typeface="Times New Roman" pitchFamily="18" charset="0"/>
              </a:rPr>
              <a:t>Better decision-making using KPI metrics and charts</a:t>
            </a:r>
            <a:endParaRPr lang="en-IN" dirty="0">
              <a:latin typeface="Times New Roman" pitchFamily="18" charset="0"/>
              <a:cs typeface="Times New Roman" pitchFamily="18" charset="0"/>
            </a:endParaRPr>
          </a:p>
        </p:txBody>
      </p:sp>
      <p:sp>
        <p:nvSpPr>
          <p:cNvPr id="4" name="object 4">
            <a:extLst>
              <a:ext uri="{FF2B5EF4-FFF2-40B4-BE49-F238E27FC236}">
                <a16:creationId xmlns:a16="http://schemas.microsoft.com/office/drawing/2014/main" id="{CB2553FB-201F-25E4-ADEF-AB58AC372E6E}"/>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spTree>
    <p:extLst>
      <p:ext uri="{BB962C8B-B14F-4D97-AF65-F5344CB8AC3E}">
        <p14:creationId xmlns:p14="http://schemas.microsoft.com/office/powerpoint/2010/main" val="725140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70CCE-C20E-94D0-DA6B-342FF02E8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0F735-F6E1-4245-AF22-1C711B4029DC}"/>
              </a:ext>
            </a:extLst>
          </p:cNvPr>
          <p:cNvSpPr>
            <a:spLocks noGrp="1"/>
          </p:cNvSpPr>
          <p:nvPr>
            <p:ph type="title"/>
          </p:nvPr>
        </p:nvSpPr>
        <p:spPr>
          <a:xfrm>
            <a:off x="535321" y="196837"/>
            <a:ext cx="15258499" cy="1354217"/>
          </a:xfrm>
        </p:spPr>
        <p:txBody>
          <a:bodyPr/>
          <a:lstStyle/>
          <a:p>
            <a:br>
              <a:rPr lang="en-US" sz="4400" u="none" dirty="0">
                <a:solidFill>
                  <a:schemeClr val="tx1"/>
                </a:solidFill>
                <a:latin typeface="Times New Roman" panose="02020603050405020304" pitchFamily="18" charset="0"/>
                <a:cs typeface="Times New Roman" panose="02020603050405020304" pitchFamily="18" charset="0"/>
              </a:rPr>
            </a:br>
            <a:r>
              <a:rPr lang="en-US" sz="4400" u="none" dirty="0">
                <a:solidFill>
                  <a:schemeClr val="tx1"/>
                </a:solidFill>
                <a:latin typeface="Times New Roman" panose="02020603050405020304" pitchFamily="18" charset="0"/>
                <a:cs typeface="Times New Roman" panose="02020603050405020304" pitchFamily="18" charset="0"/>
              </a:rPr>
              <a:t>                                          FUTURE ENHANCEMENTS</a:t>
            </a: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8252308-0AFF-E621-2EFD-01920783AC23}"/>
              </a:ext>
            </a:extLst>
          </p:cNvPr>
          <p:cNvSpPr>
            <a:spLocks noGrp="1"/>
          </p:cNvSpPr>
          <p:nvPr>
            <p:ph type="body" idx="1"/>
          </p:nvPr>
        </p:nvSpPr>
        <p:spPr>
          <a:xfrm>
            <a:off x="1600200" y="2663262"/>
            <a:ext cx="15782290" cy="4886402"/>
          </a:xfrm>
        </p:spPr>
        <p:txBody>
          <a:bodyPr/>
          <a:lstStyle/>
          <a:p>
            <a:pPr marL="571500" indent="-571500">
              <a:lnSpc>
                <a:spcPct val="150000"/>
              </a:lnSpc>
              <a:buFont typeface="Arial" pitchFamily="34" charset="0"/>
              <a:buChar char="•"/>
            </a:pPr>
            <a:r>
              <a:rPr lang="en-IN" dirty="0">
                <a:latin typeface="Times New Roman" pitchFamily="18" charset="0"/>
                <a:cs typeface="Times New Roman" pitchFamily="18" charset="0"/>
              </a:rPr>
              <a:t>Add real-time data integration </a:t>
            </a:r>
          </a:p>
          <a:p>
            <a:pPr marL="571500" indent="-571500">
              <a:lnSpc>
                <a:spcPct val="150000"/>
              </a:lnSpc>
              <a:buFont typeface="Arial" pitchFamily="34" charset="0"/>
              <a:buChar char="•"/>
            </a:pPr>
            <a:r>
              <a:rPr lang="en-IN" dirty="0">
                <a:latin typeface="Times New Roman" pitchFamily="18" charset="0"/>
                <a:cs typeface="Times New Roman" pitchFamily="18" charset="0"/>
              </a:rPr>
              <a:t>Deploy dashboard on cloud platforms </a:t>
            </a:r>
          </a:p>
          <a:p>
            <a:pPr marL="571500" indent="-571500">
              <a:lnSpc>
                <a:spcPct val="150000"/>
              </a:lnSpc>
              <a:buFont typeface="Arial" pitchFamily="34" charset="0"/>
              <a:buChar char="•"/>
            </a:pPr>
            <a:r>
              <a:rPr lang="en-IN" dirty="0">
                <a:latin typeface="Times New Roman" pitchFamily="18" charset="0"/>
                <a:cs typeface="Times New Roman" pitchFamily="18" charset="0"/>
              </a:rPr>
              <a:t>Add machine learning prediction models </a:t>
            </a:r>
          </a:p>
          <a:p>
            <a:pPr marL="571500" indent="-571500">
              <a:lnSpc>
                <a:spcPct val="150000"/>
              </a:lnSpc>
              <a:buFont typeface="Arial" pitchFamily="34" charset="0"/>
              <a:buChar char="•"/>
            </a:pPr>
            <a:r>
              <a:rPr lang="en-IN" dirty="0">
                <a:latin typeface="Times New Roman" pitchFamily="18" charset="0"/>
                <a:cs typeface="Times New Roman" pitchFamily="18" charset="0"/>
              </a:rPr>
              <a:t>Develop mobile-friendly dashboard </a:t>
            </a:r>
          </a:p>
          <a:p>
            <a:pPr marL="571500" indent="-571500">
              <a:lnSpc>
                <a:spcPct val="150000"/>
              </a:lnSpc>
              <a:buFont typeface="Arial" pitchFamily="34" charset="0"/>
              <a:buChar char="•"/>
            </a:pPr>
            <a:r>
              <a:rPr lang="en-IN" dirty="0">
                <a:latin typeface="Times New Roman" pitchFamily="18" charset="0"/>
                <a:cs typeface="Times New Roman" pitchFamily="18" charset="0"/>
              </a:rPr>
              <a:t>Add customer recommendation system </a:t>
            </a:r>
          </a:p>
          <a:p>
            <a:pPr marL="571500" indent="-571500">
              <a:lnSpc>
                <a:spcPct val="150000"/>
              </a:lnSpc>
              <a:buFont typeface="Arial" pitchFamily="34" charset="0"/>
              <a:buChar char="•"/>
            </a:pPr>
            <a:r>
              <a:rPr lang="en-IN" dirty="0">
                <a:latin typeface="Times New Roman" pitchFamily="18" charset="0"/>
                <a:cs typeface="Times New Roman" pitchFamily="18" charset="0"/>
              </a:rPr>
              <a:t>Integrate AI-based analytics</a:t>
            </a:r>
          </a:p>
        </p:txBody>
      </p:sp>
      <p:sp>
        <p:nvSpPr>
          <p:cNvPr id="4" name="object 4">
            <a:extLst>
              <a:ext uri="{FF2B5EF4-FFF2-40B4-BE49-F238E27FC236}">
                <a16:creationId xmlns:a16="http://schemas.microsoft.com/office/drawing/2014/main" id="{131534E7-D432-B675-1125-78E568911F2F}"/>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spTree>
    <p:extLst>
      <p:ext uri="{BB962C8B-B14F-4D97-AF65-F5344CB8AC3E}">
        <p14:creationId xmlns:p14="http://schemas.microsoft.com/office/powerpoint/2010/main" val="849396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659F7-CAE5-D40A-82D7-7C1C6D137C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9E88E-C15B-3413-4C84-14FD73C78679}"/>
              </a:ext>
            </a:extLst>
          </p:cNvPr>
          <p:cNvSpPr>
            <a:spLocks noGrp="1"/>
          </p:cNvSpPr>
          <p:nvPr>
            <p:ph type="title"/>
          </p:nvPr>
        </p:nvSpPr>
        <p:spPr>
          <a:xfrm>
            <a:off x="609600" y="571500"/>
            <a:ext cx="15258499" cy="2031325"/>
          </a:xfrm>
        </p:spPr>
        <p:txBody>
          <a:bodyPr/>
          <a:lstStyle/>
          <a:p>
            <a:br>
              <a:rPr lang="en-US" sz="4400" u="none" dirty="0">
                <a:solidFill>
                  <a:schemeClr val="tx1"/>
                </a:solidFill>
                <a:latin typeface="Times New Roman" panose="02020603050405020304" pitchFamily="18" charset="0"/>
                <a:cs typeface="Times New Roman" panose="02020603050405020304" pitchFamily="18" charset="0"/>
              </a:rPr>
            </a:br>
            <a:r>
              <a:rPr lang="en-US" sz="4400" u="none" dirty="0">
                <a:solidFill>
                  <a:schemeClr val="tx1"/>
                </a:solidFill>
                <a:latin typeface="Times New Roman" panose="02020603050405020304" pitchFamily="18" charset="0"/>
                <a:cs typeface="Times New Roman" panose="02020603050405020304" pitchFamily="18" charset="0"/>
              </a:rPr>
              <a:t>                                                CONCLUSION</a:t>
            </a:r>
            <a:br>
              <a:rPr lang="en-US" sz="4400" u="none" dirty="0">
                <a:solidFill>
                  <a:schemeClr val="tx1"/>
                </a:solidFill>
                <a:latin typeface="Times New Roman" panose="02020603050405020304" pitchFamily="18" charset="0"/>
                <a:cs typeface="Times New Roman" panose="02020603050405020304" pitchFamily="18" charset="0"/>
              </a:rPr>
            </a:br>
            <a:endParaRPr lang="en-IN" sz="4400" u="none"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E04C3B2-5DB4-1F8B-DDBB-B5FD89ACBF73}"/>
              </a:ext>
            </a:extLst>
          </p:cNvPr>
          <p:cNvSpPr>
            <a:spLocks noGrp="1"/>
          </p:cNvSpPr>
          <p:nvPr>
            <p:ph type="body" idx="1"/>
          </p:nvPr>
        </p:nvSpPr>
        <p:spPr>
          <a:xfrm>
            <a:off x="1676400" y="2552700"/>
            <a:ext cx="15782290" cy="4886402"/>
          </a:xfrm>
        </p:spPr>
        <p:txBody>
          <a:bodyPr/>
          <a:lstStyle/>
          <a:p>
            <a:pPr algn="just">
              <a:lnSpc>
                <a:spcPct val="150000"/>
              </a:lnSpc>
            </a:pPr>
            <a:r>
              <a:rPr lang="en-US" dirty="0">
                <a:latin typeface="Times New Roman" pitchFamily="18" charset="0"/>
                <a:cs typeface="Times New Roman" pitchFamily="18" charset="0"/>
              </a:rPr>
              <a:t>The </a:t>
            </a:r>
            <a:r>
              <a:rPr lang="en-US" dirty="0" err="1">
                <a:latin typeface="Times New Roman" pitchFamily="18" charset="0"/>
                <a:cs typeface="Times New Roman" pitchFamily="18" charset="0"/>
              </a:rPr>
              <a:t>Blinkit</a:t>
            </a:r>
            <a:r>
              <a:rPr lang="en-US" dirty="0">
                <a:latin typeface="Times New Roman" pitchFamily="18" charset="0"/>
                <a:cs typeface="Times New Roman" pitchFamily="18" charset="0"/>
              </a:rPr>
              <a:t> Sales Analytics Dashboard successfully analyzes and visualizes sales data using interactive charts and KPI metrics. The project helps businesses understand customer preferences, outlet performance, and sales trends effectively. The dashboard reduces manual work, improves data analysis accuracy, and supports data-driven business decisions. This project demonstrates the practical application of data analytics and business intelligence in the e-commerce industry.</a:t>
            </a:r>
            <a:endParaRPr lang="en-IN" dirty="0">
              <a:latin typeface="Times New Roman" pitchFamily="18" charset="0"/>
              <a:cs typeface="Times New Roman" pitchFamily="18" charset="0"/>
            </a:endParaRPr>
          </a:p>
        </p:txBody>
      </p:sp>
      <p:sp>
        <p:nvSpPr>
          <p:cNvPr id="4" name="object 4">
            <a:extLst>
              <a:ext uri="{FF2B5EF4-FFF2-40B4-BE49-F238E27FC236}">
                <a16:creationId xmlns:a16="http://schemas.microsoft.com/office/drawing/2014/main" id="{58626FE8-B042-10BE-1691-C164609577CC}"/>
              </a:ext>
            </a:extLst>
          </p:cNvPr>
          <p:cNvSpPr/>
          <p:nvPr/>
        </p:nvSpPr>
        <p:spPr>
          <a:xfrm>
            <a:off x="-11373" y="9315449"/>
            <a:ext cx="18288000" cy="1028700"/>
          </a:xfrm>
          <a:custGeom>
            <a:avLst/>
            <a:gdLst/>
            <a:ahLst/>
            <a:cxnLst/>
            <a:rect l="l" t="t" r="r" b="b"/>
            <a:pathLst>
              <a:path w="18288000" h="1028700">
                <a:moveTo>
                  <a:pt x="18287553" y="1028699"/>
                </a:moveTo>
                <a:lnTo>
                  <a:pt x="0" y="1028699"/>
                </a:lnTo>
                <a:lnTo>
                  <a:pt x="0" y="0"/>
                </a:lnTo>
                <a:lnTo>
                  <a:pt x="18287553" y="0"/>
                </a:lnTo>
                <a:lnTo>
                  <a:pt x="18287553" y="1028699"/>
                </a:lnTo>
                <a:close/>
              </a:path>
            </a:pathLst>
          </a:custGeom>
          <a:solidFill>
            <a:srgbClr val="A2B08A"/>
          </a:solidFill>
        </p:spPr>
        <p:txBody>
          <a:bodyPr wrap="square" lIns="0" tIns="0" rIns="0" bIns="0" rtlCol="0"/>
          <a:lstStyle/>
          <a:p>
            <a:endParaRPr/>
          </a:p>
        </p:txBody>
      </p:sp>
    </p:spTree>
    <p:extLst>
      <p:ext uri="{BB962C8B-B14F-4D97-AF65-F5344CB8AC3E}">
        <p14:creationId xmlns:p14="http://schemas.microsoft.com/office/powerpoint/2010/main" val="3688276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12241</TotalTime>
  <Words>958</Words>
  <Application>Microsoft Office PowerPoint</Application>
  <PresentationFormat>Custom</PresentationFormat>
  <Paragraphs>147</Paragraphs>
  <Slides>17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Arial MT</vt:lpstr>
      <vt:lpstr>Calibri</vt:lpstr>
      <vt:lpstr>Times New Roman</vt:lpstr>
      <vt:lpstr>Office Theme</vt:lpstr>
      <vt:lpstr>  PROJECT TITLE : BLINKIT SALES ANALYTICS DASHBOARD </vt:lpstr>
      <vt:lpstr>                                       INTRODUCTION </vt:lpstr>
      <vt:lpstr>                                                PROBLEM STATEMENT</vt:lpstr>
      <vt:lpstr>                                                   OBJECTIVES</vt:lpstr>
      <vt:lpstr>                                     SCOPE OF THE PROJECT</vt:lpstr>
      <vt:lpstr>                                                    EXISTING SYSTEM</vt:lpstr>
      <vt:lpstr>                                             PROPOSED SYSTEM</vt:lpstr>
      <vt:lpstr>                                              TECHNOLOGY STACK</vt:lpstr>
      <vt:lpstr>                                           SYSTEM ARCHITECTURE</vt:lpstr>
      <vt:lpstr>                                          MODULES OF PROJECT</vt:lpstr>
      <vt:lpstr> </vt:lpstr>
      <vt:lpstr>                                                DATABASE DESIGN</vt:lpstr>
      <vt:lpstr>                                        </vt:lpstr>
      <vt:lpstr>                                        </vt:lpstr>
      <vt:lpstr>                                            EXPECTED OUTCOMES</vt:lpstr>
      <vt:lpstr>                                           FUTURE ENHANCEMENTS</vt:lpstr>
      <vt:lpstr>                                                 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PHASE 1 PROGRESS PRESENTATION</dc:title>
  <dc:creator>Priyanka Kundur</dc:creator>
  <cp:keywords>DAHDGEhaMLA,BAGHetDSuZA,0</cp:keywords>
  <cp:lastModifiedBy>Sinchana PM</cp:lastModifiedBy>
  <cp:revision>38</cp:revision>
  <dcterms:created xsi:type="dcterms:W3CDTF">2026-03-31T05:09:26Z</dcterms:created>
  <dcterms:modified xsi:type="dcterms:W3CDTF">2026-05-04T01:54:48Z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2026-03-06T00:00:00Z</vt:filetime>
  </property>
  <property fmtid="{D5CDD505-2E9C-101B-9397-08002B2CF9AE}" pid="3" name="Creator">
    <vt:lpwstr>Canva</vt:lpwstr>
  </property>
  <property fmtid="{D5CDD505-2E9C-101B-9397-08002B2CF9AE}" pid="4" name="LastSaved">
    <vt:filetime>2026-03-31T00:00:00Z</vt:filetime>
  </property>
  <property fmtid="{D5CDD505-2E9C-101B-9397-08002B2CF9AE}" pid="5" name="Producer">
    <vt:lpwstr>Canva</vt:lpwstr>
  </property>
</Properties>
</file>